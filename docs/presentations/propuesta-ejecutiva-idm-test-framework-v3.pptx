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" id="{2b07a5e9-ee82-5cbb-2534-15b7ad22def2}">
          <p14:sldIdLst>
            <p14:sldId id="256"/>
            <p14:sldId id="257"/>
            <p14:sldId id="258"/>
            <p14:sldId id="259"/>
          </p14:sldIdLst>
        </p14:section>
        <p14:section name="Respaldo" id="{a557efc3-01e3-9966-de7e-b06953def3b4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README.md; docs/architecture/capabilities.md. Apertura: una solicitud exitosa en IdM no basta; el framework comprueba el estado observado en cada destino (BD y Active Directory) y deja evidencia de cada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pom.xml (Java 25, Spring Boot 4.1.1); docs/guides/runner.md (ZIP con Java 25 para macOS, Windows y Linux); docs/architecture/capabilities.md (conectores, drivers incluidos, límites). Memoria: pico de ~350 MB de RSS medido el 2026-10-27 ejecutando los 21 escenarios YAML con LDAP, BD y servicios embebidos; 1 GB libre es margen recomendado, no un mínimo publicado. Limitaciones: el workbench es local para una persona (ADR 0007 deja el servidor compartido para después); los escenarios ya se ejecutaron contra un laboratorio real de IdM (eDirectory, User Application, BD y AD), pero aún no en un ambiente productivo de cliente; contraseñas, estado de cuenta y paginación de AD son ITF-33; la ejecución en paralelo está fuera de alcance. Mitigación: piloto en laboratorio con cuentas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 planteados por el requerimiento y vinculados a capacidades reales (README.md, docs/architecture/capabilities.md): escenarios YAML repetibles, validación con espera, reporte HTML/JSON por ejecución con evidencia por paso. No se muestran cifras de ahorro ni de reducción de errores porque aún no hay una medición; el piloto puede producirla (tiempo manual vs. tiempo con el framework).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idm-test-scenarios/src/test/resources/scenarios-real/provisioning-user-to-idm-1.yaml (alta en eDirectory, roles.grant, db.verify de usuario y permisos) y provisioning-user-to-idm-2.yaml (resources.grant y ldap.verify en AD de la cuenta y memberOf, con espera de hasta 2 minutos). Los escenarios del flujo ya están escritos; el piloto los ejecuta en el laboratorio acordado. Pedir la decisión: aprobar el piloto con este caso de uso. Desde aquí se pasa a la demo; las láminas 5 y 6 están ocultas y sirven de respaldo si preguntan por el roadmap o por el licenciamiento.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oculta de respaldo. Fuentes: backlog abierto del proyecto ITF en YouTrack (ITF-16, 29, 33, 54, 57, 59, 61, 65, 67, 68, 69); docs/architecture/capabilities.md (paralelo e includes fuera de alcance actual). Propuestas sin ticket: conector de archivos de texto (file.write/file.verify, útil para el driver Delimited Text; rutas limitadas a carpetas declaradas en la configuración), escenarios guiados por datos (una ejecución por fila) y después un Iterator acotado, que exige un nuevo ADR porque hoy la lista de pasos es el orden exacto de ejecución (ADR 0001); conector Execute con comandos declarados por nombre en la configuración, sin shell, con tiempo límite y salida enmascarada, para que un escenario recibido por Git no ejecute comandos arbitrarios; biblioteca de escenarios por driver; ejecución programada y en CI/CD; empaquetado comercial. No se comprometen fechas.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oculta de respaldo; no es asesoría legal y conviene una revisión legal antes de la primera venta. Fuentes: idm-test-runner/src/dist/LICENSE-THIRD-PARTY (licencias de cada componente incluido); idm-test-runner/pom.xml (el runtime de Java se genera con jlink desde el JDK de la máquina que compila, hoy no fijado). El repositorio no tiene archivo LICENSE propio: hay que definir quién es dueño del código antes de venderlo. Rhino (MPL 2.0) obliga a publicar el código solo si se modifica; Logback se usa bajo EPL 2.0; el driver Oracle (FUTC) se redistribuye conservando su licencia. Los WSDL de idm-connector-soap son material de NetIQ/OpenText: redistribuirlos puede requerir permiso, o generarlos desde la instalación del cliente. OpenText vende Identity Validator, de función parecida; revisar si el acuerdo de partner restringe un add-on similar y no usar sus marcas en el nombre del producto. Evitar el JDK de Oracle, cuya licencia gratuita no permite redistribuirlo con cobro.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IdM Test Framework  ·  Propuesta para Servicios Profesionales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Automatizar la validación de IdM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Una propuesta para Servicios Profesionales</a:t>
            </a:r>
            <a:endParaRPr lang="en-US" sz="2200" dirty="0"/>
          </a:p>
        </p:txBody>
      </p:sp>
      <p:sp>
        <p:nvSpPr>
          <p:cNvPr id="4" name="Key message"/>
          <p:cNvSpPr txBox="1"/>
          <p:nvPr/>
        </p:nvSpPr>
        <p:spPr>
          <a:xfrm>
            <a:off x="548640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 solo flujo crea la identidad, asigna los accesos y comprueba el resultado en la base de datos y en Active Directory.</a:t>
            </a:r>
            <a:endParaRPr lang="en-US" sz="1800" dirty="0"/>
          </a:p>
        </p:txBody>
      </p:sp>
      <p:sp>
        <p:nvSpPr>
          <p:cNvPr id="5" name="Escenarios reutilizables circle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Escenarios reutilizables icon" descr="Escenarios reutiliz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5417820"/>
            <a:ext cx="228600" cy="228600"/>
          </a:xfrm>
          <a:prstGeom prst="rect">
            <a:avLst/>
          </a:prstGeom>
        </p:spPr>
      </p:pic>
      <p:sp>
        <p:nvSpPr>
          <p:cNvPr id="7" name="Escenarios reutilizables"/>
          <p:cNvSpPr txBox="1"/>
          <p:nvPr/>
        </p:nvSpPr>
        <p:spPr>
          <a:xfrm>
            <a:off x="109728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Escenarios reutilizables</a:t>
            </a:r>
            <a:endParaRPr lang="en-US" sz="1400" dirty="0"/>
          </a:p>
        </p:txBody>
      </p:sp>
      <p:sp>
        <p:nvSpPr>
          <p:cNvPr id="8" name="Validación con espera circle"/>
          <p:cNvSpPr/>
          <p:nvPr/>
        </p:nvSpPr>
        <p:spPr>
          <a:xfrm>
            <a:off x="2926080" y="5303520"/>
            <a:ext cx="457200" cy="4572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9" name="Validación con espera icon" descr="Validación con esp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5417820"/>
            <a:ext cx="228600" cy="228600"/>
          </a:xfrm>
          <a:prstGeom prst="rect">
            <a:avLst/>
          </a:prstGeom>
        </p:spPr>
      </p:pic>
      <p:sp>
        <p:nvSpPr>
          <p:cNvPr id="10" name="Validación con espera"/>
          <p:cNvSpPr txBox="1"/>
          <p:nvPr/>
        </p:nvSpPr>
        <p:spPr>
          <a:xfrm>
            <a:off x="347472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Validación con espera</a:t>
            </a:r>
            <a:endParaRPr lang="en-US" sz="1400" dirty="0"/>
          </a:p>
        </p:txBody>
      </p:sp>
      <p:sp>
        <p:nvSpPr>
          <p:cNvPr id="11" name="Evidencia por ejecución circle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2" name="Evidencia por ejecución icon" descr="Evidencia por ejecu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5417820"/>
            <a:ext cx="228600" cy="228600"/>
          </a:xfrm>
          <a:prstGeom prst="rect">
            <a:avLst/>
          </a:prstGeom>
        </p:spPr>
      </p:pic>
      <p:sp>
        <p:nvSpPr>
          <p:cNvPr id="13" name="Evidencia por ejecución"/>
          <p:cNvSpPr txBox="1"/>
          <p:nvPr/>
        </p:nvSpPr>
        <p:spPr>
          <a:xfrm>
            <a:off x="585216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Evidencia por ejecución</a:t>
            </a:r>
            <a:endParaRPr lang="en-US" sz="1400" dirty="0"/>
          </a:p>
        </p:txBody>
      </p:sp>
      <p:sp>
        <p:nvSpPr>
          <p:cNvPr id="14" name="Flow panel"/>
          <p:cNvSpPr/>
          <p:nvPr/>
        </p:nvSpPr>
        <p:spPr>
          <a:xfrm>
            <a:off x="8321040" y="731520"/>
            <a:ext cx="3322015" cy="5303520"/>
          </a:xfrm>
          <a:prstGeom prst="roundRect">
            <a:avLst>
              <a:gd name="adj" fmla="val 3303"/>
            </a:avLst>
          </a:prstGeom>
          <a:solidFill>
            <a:srgbClr val="EEF3F9"/>
          </a:solidFill>
          <a:ln/>
        </p:spPr>
      </p:sp>
      <p:sp>
        <p:nvSpPr>
          <p:cNvPr id="15" name="Flow line"/>
          <p:cNvSpPr/>
          <p:nvPr/>
        </p:nvSpPr>
        <p:spPr>
          <a:xfrm>
            <a:off x="9166860" y="1531620"/>
            <a:ext cx="0" cy="3703320"/>
          </a:xfrm>
          <a:prstGeom prst="line">
            <a:avLst/>
          </a:prstGeom>
          <a:noFill/>
          <a:ln w="25400">
            <a:solidFill>
              <a:srgbClr val="617080"/>
            </a:solidFill>
            <a:prstDash val="dash"/>
          </a:ln>
        </p:spPr>
      </p:sp>
      <p:sp>
        <p:nvSpPr>
          <p:cNvPr id="16" name="Identidad en IdM circle"/>
          <p:cNvSpPr/>
          <p:nvPr/>
        </p:nvSpPr>
        <p:spPr>
          <a:xfrm>
            <a:off x="8778240" y="1143000"/>
            <a:ext cx="777240" cy="77724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7" name="Identidad en IdM icon" descr="Identidad en Id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1337310"/>
            <a:ext cx="388620" cy="388620"/>
          </a:xfrm>
          <a:prstGeom prst="rect">
            <a:avLst/>
          </a:prstGeom>
        </p:spPr>
      </p:pic>
      <p:sp>
        <p:nvSpPr>
          <p:cNvPr id="18" name="Identidad en IdM label"/>
          <p:cNvSpPr txBox="1"/>
          <p:nvPr/>
        </p:nvSpPr>
        <p:spPr>
          <a:xfrm>
            <a:off x="9784080" y="1143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Identidad en IdM</a:t>
            </a:r>
            <a:endParaRPr lang="en-US" sz="1600" dirty="0"/>
          </a:p>
        </p:txBody>
      </p:sp>
      <p:sp>
        <p:nvSpPr>
          <p:cNvPr id="19" name="Accesos asignados circle"/>
          <p:cNvSpPr/>
          <p:nvPr/>
        </p:nvSpPr>
        <p:spPr>
          <a:xfrm>
            <a:off x="8778240" y="2377440"/>
            <a:ext cx="777240" cy="7772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0" name="Accesos asignados icon" descr="Accesos asignad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2571750"/>
            <a:ext cx="388620" cy="388620"/>
          </a:xfrm>
          <a:prstGeom prst="rect">
            <a:avLst/>
          </a:prstGeom>
        </p:spPr>
      </p:pic>
      <p:sp>
        <p:nvSpPr>
          <p:cNvPr id="21" name="Accesos asignados label"/>
          <p:cNvSpPr txBox="1"/>
          <p:nvPr/>
        </p:nvSpPr>
        <p:spPr>
          <a:xfrm>
            <a:off x="978408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Accesos asignados</a:t>
            </a:r>
            <a:endParaRPr lang="en-US" sz="1600" dirty="0"/>
          </a:p>
        </p:txBody>
      </p:sp>
      <p:sp>
        <p:nvSpPr>
          <p:cNvPr id="22" name="Base de datos circle"/>
          <p:cNvSpPr/>
          <p:nvPr/>
        </p:nvSpPr>
        <p:spPr>
          <a:xfrm>
            <a:off x="8778240" y="3611880"/>
            <a:ext cx="777240" cy="7772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3" name="Base de datos icon" descr="Base de dat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550" y="3806190"/>
            <a:ext cx="388620" cy="388620"/>
          </a:xfrm>
          <a:prstGeom prst="rect">
            <a:avLst/>
          </a:prstGeom>
        </p:spPr>
      </p:pic>
      <p:sp>
        <p:nvSpPr>
          <p:cNvPr id="24" name="Base de datos label"/>
          <p:cNvSpPr txBox="1"/>
          <p:nvPr/>
        </p:nvSpPr>
        <p:spPr>
          <a:xfrm>
            <a:off x="978408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Base de datos</a:t>
            </a:r>
            <a:endParaRPr lang="en-US" sz="1600" dirty="0"/>
          </a:p>
        </p:txBody>
      </p:sp>
      <p:sp>
        <p:nvSpPr>
          <p:cNvPr id="25" name="Active Directory circle"/>
          <p:cNvSpPr/>
          <p:nvPr/>
        </p:nvSpPr>
        <p:spPr>
          <a:xfrm>
            <a:off x="8778240" y="4846320"/>
            <a:ext cx="777240" cy="7772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6" name="Active Directory icon" descr="Active Direc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550" y="5040630"/>
            <a:ext cx="388620" cy="388620"/>
          </a:xfrm>
          <a:prstGeom prst="rect">
            <a:avLst/>
          </a:prstGeom>
        </p:spPr>
      </p:pic>
      <p:sp>
        <p:nvSpPr>
          <p:cNvPr id="27" name="Active Directory label"/>
          <p:cNvSpPr txBox="1"/>
          <p:nvPr/>
        </p:nvSpPr>
        <p:spPr>
          <a:xfrm>
            <a:off x="9784080" y="4846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Active Directory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está hecho y qué necesita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Componentes, condiciones de uso y límites actuales</a:t>
            </a:r>
            <a:endParaRPr lang="en-US" sz="1800" dirty="0"/>
          </a:p>
        </p:txBody>
      </p:sp>
      <p:sp>
        <p:nvSpPr>
          <p:cNvPr id="4" name="Built with card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/>
        </p:spPr>
      </p:sp>
      <p:sp>
        <p:nvSpPr>
          <p:cNvPr id="5" name="Tecnología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Tecnología icon" descr="Tecnolog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00250"/>
            <a:ext cx="251460" cy="251460"/>
          </a:xfrm>
          <a:prstGeom prst="rect">
            <a:avLst/>
          </a:prstGeom>
        </p:spPr>
      </p:pic>
      <p:sp>
        <p:nvSpPr>
          <p:cNvPr id="7" name="Built with header"/>
          <p:cNvSpPr txBox="1"/>
          <p:nvPr/>
        </p:nvSpPr>
        <p:spPr>
          <a:xfrm>
            <a:off x="14630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 QUÉ ESTÁ HECHO</a:t>
            </a:r>
            <a:endParaRPr lang="en-US" sz="1400" dirty="0"/>
          </a:p>
        </p:txBody>
      </p:sp>
      <p:sp>
        <p:nvSpPr>
          <p:cNvPr id="8" name="Built with list"/>
          <p:cNvSpPr txBox="1"/>
          <p:nvPr/>
        </p:nvSpPr>
        <p:spPr>
          <a:xfrm>
            <a:off x="822960" y="25146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 25 LTS y Spring Boot 4.1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Escenarios en YAML (consultor) o Java/JUnit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Reporte HTML y JSON por ejecución</a:t>
            </a:r>
            <a:endParaRPr lang="en-US" sz="1400" dirty="0"/>
          </a:p>
        </p:txBody>
      </p:sp>
      <p:sp>
        <p:nvSpPr>
          <p:cNvPr id="9" name="Requisitos circle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0" name="Requisitos icon" descr="Requis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103370"/>
            <a:ext cx="251460" cy="251460"/>
          </a:xfrm>
          <a:prstGeom prst="rect">
            <a:avLst/>
          </a:prstGeom>
        </p:spPr>
      </p:pic>
      <p:sp>
        <p:nvSpPr>
          <p:cNvPr id="11" name="Needs header"/>
          <p:cNvSpPr txBox="1"/>
          <p:nvPr/>
        </p:nvSpPr>
        <p:spPr>
          <a:xfrm>
            <a:off x="146304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QUÉ NECESITA</a:t>
            </a:r>
            <a:endParaRPr lang="en-US" sz="1400" dirty="0"/>
          </a:p>
        </p:txBody>
      </p:sp>
      <p:sp>
        <p:nvSpPr>
          <p:cNvPr id="12" name="Needs list"/>
          <p:cNvSpPr txBox="1"/>
          <p:nvPr/>
        </p:nvSpPr>
        <p:spPr>
          <a:xfrm>
            <a:off x="82296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equipo macOS, Windows o Linux; Java ya viene en el ZIP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 hacia IdM, BD y AD del laboratorio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Cuentas de servicio y datos de prueba</a:t>
            </a:r>
            <a:endParaRPr lang="en-US" sz="1400" dirty="0"/>
          </a:p>
        </p:txBody>
      </p:sp>
      <p:graphicFrame>
        <p:nvGraphicFramePr>
          <p:cNvPr id="3" name="Compon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00200"/>
          <a:ext cx="725393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331720"/>
                <a:gridCol w="2773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Qué hace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Condición para usarlo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Runner idmtest y Workbench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Ejecuta, valida y genera el reporte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~350 MB de RAM medidos; 1 GB libre recomendado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LDAP: eDirectory y 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Crea y verifica cuentas y grupos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 a 389/636, cuenta de servicio, certificado TLS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SOAP: Roles y Recursos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Asigna roles y recursos en IdM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URL de User Application y usuario con permiso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SQL (JDBC)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 usuario y permisos en la BD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Driver PostgreSQL, Oracle o SQL Server incluido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REST / HTTP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Consulta APIs del IdM o del destino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URL y credencial Basic u OAuth2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Limits card"/>
          <p:cNvSpPr/>
          <p:nvPr/>
        </p:nvSpPr>
        <p:spPr>
          <a:xfrm>
            <a:off x="4389120" y="4800600"/>
            <a:ext cx="7253935" cy="1371600"/>
          </a:xfrm>
          <a:prstGeom prst="roundRect">
            <a:avLst>
              <a:gd name="adj" fmla="val 8000"/>
            </a:avLst>
          </a:prstGeom>
          <a:solidFill>
            <a:srgbClr val="F7D9B5"/>
          </a:solidFill>
          <a:ln/>
        </p:spPr>
      </p:sp>
      <p:sp>
        <p:nvSpPr>
          <p:cNvPr id="15" name="Limitaciones circle"/>
          <p:cNvSpPr/>
          <p:nvPr/>
        </p:nvSpPr>
        <p:spPr>
          <a:xfrm>
            <a:off x="4663440" y="4983480"/>
            <a:ext cx="502920" cy="50292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6" name="Limitaciones icon" descr="Limitaci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170" y="5109210"/>
            <a:ext cx="251460" cy="251460"/>
          </a:xfrm>
          <a:prstGeom prst="rect">
            <a:avLst/>
          </a:prstGeom>
        </p:spPr>
      </p:pic>
      <p:sp>
        <p:nvSpPr>
          <p:cNvPr id="17" name="Limits header"/>
          <p:cNvSpPr txBox="1"/>
          <p:nvPr/>
        </p:nvSpPr>
        <p:spPr>
          <a:xfrm>
            <a:off x="5349240" y="4983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3F08"/>
                </a:solidFill>
              </a:rPr>
              <a:t>LIMITACIONES ACTUALES</a:t>
            </a:r>
            <a:endParaRPr lang="en-US" sz="1400" dirty="0"/>
          </a:p>
        </p:txBody>
      </p:sp>
      <p:sp>
        <p:nvSpPr>
          <p:cNvPr id="18" name="Limits left"/>
          <p:cNvSpPr txBox="1"/>
          <p:nvPr/>
        </p:nvSpPr>
        <p:spPr>
          <a:xfrm>
            <a:off x="4663440" y="5577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Uso local: una persona por equipo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Probado en laboratorio, no en producción</a:t>
            </a:r>
            <a:endParaRPr lang="en-US" sz="1400" dirty="0"/>
          </a:p>
        </p:txBody>
      </p:sp>
      <p:sp>
        <p:nvSpPr>
          <p:cNvPr id="19" name="Limits right"/>
          <p:cNvSpPr txBox="1"/>
          <p:nvPr/>
        </p:nvSpPr>
        <p:spPr>
          <a:xfrm>
            <a:off x="8229600" y="5577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AD: sin contraseña ni estado de cuenta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ejecución en paralelo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Beneficios para Servicios Profesionales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Más consistencia en entregas, cambios y soporte</a:t>
            </a:r>
            <a:endParaRPr lang="en-US" sz="1800" dirty="0"/>
          </a:p>
        </p:txBody>
      </p:sp>
      <p:sp>
        <p:nvSpPr>
          <p:cNvPr id="4" name="Pruebas de regresión card"/>
          <p:cNvSpPr/>
          <p:nvPr/>
        </p:nvSpPr>
        <p:spPr>
          <a:xfrm>
            <a:off x="548640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5" name="Pruebas de regresión circle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Pruebas de regresión icon" descr="Pruebas de regre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91690"/>
            <a:ext cx="342900" cy="342900"/>
          </a:xfrm>
          <a:prstGeom prst="rect">
            <a:avLst/>
          </a:prstGeom>
        </p:spPr>
      </p:pic>
      <p:sp>
        <p:nvSpPr>
          <p:cNvPr id="7" name="Pruebas de regresión title"/>
          <p:cNvSpPr txBox="1"/>
          <p:nvPr/>
        </p:nvSpPr>
        <p:spPr>
          <a:xfrm>
            <a:off x="777240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Pruebas de regresión</a:t>
            </a:r>
            <a:endParaRPr lang="en-US" sz="1700" dirty="0"/>
          </a:p>
        </p:txBody>
      </p:sp>
      <p:sp>
        <p:nvSpPr>
          <p:cNvPr id="8" name="Pruebas de regresión text"/>
          <p:cNvSpPr txBox="1"/>
          <p:nvPr/>
        </p:nvSpPr>
        <p:spPr>
          <a:xfrm>
            <a:off x="777240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mismo escenario se repite tras cada cambio o versión.</a:t>
            </a:r>
            <a:endParaRPr lang="en-US" sz="1400" dirty="0"/>
          </a:p>
        </p:txBody>
      </p:sp>
      <p:sp>
        <p:nvSpPr>
          <p:cNvPr id="9" name="Menos errores en producción card"/>
          <p:cNvSpPr/>
          <p:nvPr/>
        </p:nvSpPr>
        <p:spPr>
          <a:xfrm>
            <a:off x="2822387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10" name="Menos errores en producción circle"/>
          <p:cNvSpPr/>
          <p:nvPr/>
        </p:nvSpPr>
        <p:spPr>
          <a:xfrm>
            <a:off x="3050987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1" name="Menos errores en producción icon" descr="Menos errores en produc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37" y="2091690"/>
            <a:ext cx="342900" cy="342900"/>
          </a:xfrm>
          <a:prstGeom prst="rect">
            <a:avLst/>
          </a:prstGeom>
        </p:spPr>
      </p:pic>
      <p:sp>
        <p:nvSpPr>
          <p:cNvPr id="12" name="Menos errores en producción title"/>
          <p:cNvSpPr txBox="1"/>
          <p:nvPr/>
        </p:nvSpPr>
        <p:spPr>
          <a:xfrm>
            <a:off x="3050987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Menos errores en producción</a:t>
            </a:r>
            <a:endParaRPr lang="en-US" sz="1700" dirty="0"/>
          </a:p>
        </p:txBody>
      </p:sp>
      <p:sp>
        <p:nvSpPr>
          <p:cNvPr id="13" name="Menos errores en producción text"/>
          <p:cNvSpPr txBox="1"/>
          <p:nvPr/>
        </p:nvSpPr>
        <p:spPr>
          <a:xfrm>
            <a:off x="3050987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fallas aparecen en laboratorio, con el paso exacto que falló.</a:t>
            </a:r>
            <a:endParaRPr lang="en-US" sz="1400" dirty="0"/>
          </a:p>
        </p:txBody>
      </p:sp>
      <p:sp>
        <p:nvSpPr>
          <p:cNvPr id="14" name="Mayor cobertura de pruebas card"/>
          <p:cNvSpPr/>
          <p:nvPr/>
        </p:nvSpPr>
        <p:spPr>
          <a:xfrm>
            <a:off x="5096134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15" name="Mayor cobertura de pruebas circle"/>
          <p:cNvSpPr/>
          <p:nvPr/>
        </p:nvSpPr>
        <p:spPr>
          <a:xfrm>
            <a:off x="5324734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6" name="Mayor cobertura de pruebas icon" descr="Mayor cobertura de prueb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184" y="2091690"/>
            <a:ext cx="342900" cy="342900"/>
          </a:xfrm>
          <a:prstGeom prst="rect">
            <a:avLst/>
          </a:prstGeom>
        </p:spPr>
      </p:pic>
      <p:sp>
        <p:nvSpPr>
          <p:cNvPr id="17" name="Mayor cobertura de pruebas title"/>
          <p:cNvSpPr txBox="1"/>
          <p:nvPr/>
        </p:nvSpPr>
        <p:spPr>
          <a:xfrm>
            <a:off x="5324734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Mayor cobertura de pruebas</a:t>
            </a:r>
            <a:endParaRPr lang="en-US" sz="1700" dirty="0"/>
          </a:p>
        </p:txBody>
      </p:sp>
      <p:sp>
        <p:nvSpPr>
          <p:cNvPr id="18" name="Mayor cobertura de pruebas text"/>
          <p:cNvSpPr txBox="1"/>
          <p:nvPr/>
        </p:nvSpPr>
        <p:spPr>
          <a:xfrm>
            <a:off x="5324734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escenario revisa IdM, accesos, BD y directorio.</a:t>
            </a:r>
            <a:endParaRPr lang="en-US" sz="1400" dirty="0"/>
          </a:p>
        </p:txBody>
      </p:sp>
      <p:sp>
        <p:nvSpPr>
          <p:cNvPr id="19" name="Automatización de lo repetitivo card"/>
          <p:cNvSpPr/>
          <p:nvPr/>
        </p:nvSpPr>
        <p:spPr>
          <a:xfrm>
            <a:off x="7369881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20" name="Automatización de lo repetitivo circle"/>
          <p:cNvSpPr/>
          <p:nvPr/>
        </p:nvSpPr>
        <p:spPr>
          <a:xfrm>
            <a:off x="7598481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21" name="Automatización de lo repetitivo icon" descr="Automatización de lo repeti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931" y="2091690"/>
            <a:ext cx="342900" cy="342900"/>
          </a:xfrm>
          <a:prstGeom prst="rect">
            <a:avLst/>
          </a:prstGeom>
        </p:spPr>
      </p:pic>
      <p:sp>
        <p:nvSpPr>
          <p:cNvPr id="22" name="Automatización de lo repetitivo title"/>
          <p:cNvSpPr txBox="1"/>
          <p:nvPr/>
        </p:nvSpPr>
        <p:spPr>
          <a:xfrm>
            <a:off x="7598481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Automatización de lo repetitivo</a:t>
            </a:r>
            <a:endParaRPr lang="en-US" sz="1700" dirty="0"/>
          </a:p>
        </p:txBody>
      </p:sp>
      <p:sp>
        <p:nvSpPr>
          <p:cNvPr id="23" name="Automatización de lo repetitivo text"/>
          <p:cNvSpPr txBox="1"/>
          <p:nvPr/>
        </p:nvSpPr>
        <p:spPr>
          <a:xfrm>
            <a:off x="7598481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Altas, asignaciones y verificaciones sin captura manual.</a:t>
            </a:r>
            <a:endParaRPr lang="en-US" sz="1400" dirty="0"/>
          </a:p>
        </p:txBody>
      </p:sp>
      <p:sp>
        <p:nvSpPr>
          <p:cNvPr id="24" name="Ahorro de tiempo y recursos card"/>
          <p:cNvSpPr/>
          <p:nvPr/>
        </p:nvSpPr>
        <p:spPr>
          <a:xfrm>
            <a:off x="9643628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25" name="Ahorro de tiempo y recursos circle"/>
          <p:cNvSpPr/>
          <p:nvPr/>
        </p:nvSpPr>
        <p:spPr>
          <a:xfrm>
            <a:off x="9872228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26" name="Ahorro de tiempo y recursos icon" descr="Ahorro de tiempo y recur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3678" y="2091690"/>
            <a:ext cx="342900" cy="342900"/>
          </a:xfrm>
          <a:prstGeom prst="rect">
            <a:avLst/>
          </a:prstGeom>
        </p:spPr>
      </p:pic>
      <p:sp>
        <p:nvSpPr>
          <p:cNvPr id="27" name="Ahorro de tiempo y recursos title"/>
          <p:cNvSpPr txBox="1"/>
          <p:nvPr/>
        </p:nvSpPr>
        <p:spPr>
          <a:xfrm>
            <a:off x="9872228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Ahorro de tiempo y recursos</a:t>
            </a:r>
            <a:endParaRPr lang="en-US" sz="1700" dirty="0"/>
          </a:p>
        </p:txBody>
      </p:sp>
      <p:sp>
        <p:nvSpPr>
          <p:cNvPr id="28" name="Ahorro de tiempo y recursos text"/>
          <p:cNvSpPr txBox="1"/>
          <p:nvPr/>
        </p:nvSpPr>
        <p:spPr>
          <a:xfrm>
            <a:off x="9872228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Escenarios reutilizables entre clientes y entregas.</a:t>
            </a:r>
            <a:endParaRPr lang="en-US" sz="1400" dirty="0"/>
          </a:p>
        </p:txBody>
      </p:sp>
      <p:sp>
        <p:nvSpPr>
          <p:cNvPr id="29" name="Today card"/>
          <p:cNvSpPr/>
          <p:nvPr/>
        </p:nvSpPr>
        <p:spPr>
          <a:xfrm>
            <a:off x="548640" y="4983480"/>
            <a:ext cx="5090008" cy="1188720"/>
          </a:xfrm>
          <a:prstGeom prst="roundRect">
            <a:avLst>
              <a:gd name="adj" fmla="val 9231"/>
            </a:avLst>
          </a:prstGeom>
          <a:solidFill>
            <a:srgbClr val="F2F4F7"/>
          </a:solidFill>
          <a:ln/>
        </p:spPr>
      </p:sp>
      <p:sp>
        <p:nvSpPr>
          <p:cNvPr id="30" name="Today text"/>
          <p:cNvSpPr txBox="1"/>
          <p:nvPr/>
        </p:nvSpPr>
        <p:spPr>
          <a:xfrm>
            <a:off x="822960" y="51206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HOY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Revisar a mano cada consola (IdM, BD, AD) y armar la evidencia con capturas.</a:t>
            </a:r>
            <a:endParaRPr lang="en-US" sz="1600" dirty="0"/>
          </a:p>
        </p:txBody>
      </p:sp>
      <p:pic>
        <p:nvPicPr>
          <p:cNvPr id="31" name="Arrow" descr="Cambi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968" y="5394960"/>
            <a:ext cx="365760" cy="365760"/>
          </a:xfrm>
          <a:prstGeom prst="rect">
            <a:avLst/>
          </a:prstGeom>
        </p:spPr>
      </p:pic>
      <p:sp>
        <p:nvSpPr>
          <p:cNvPr id="32" name="Framework card"/>
          <p:cNvSpPr/>
          <p:nvPr/>
        </p:nvSpPr>
        <p:spPr>
          <a:xfrm>
            <a:off x="6553048" y="4983480"/>
            <a:ext cx="5090008" cy="1188720"/>
          </a:xfrm>
          <a:prstGeom prst="roundRect">
            <a:avLst>
              <a:gd name="adj" fmla="val 9231"/>
            </a:avLst>
          </a:prstGeom>
          <a:solidFill>
            <a:srgbClr val="E3F4F1"/>
          </a:solidFill>
          <a:ln/>
        </p:spPr>
      </p:sp>
      <p:sp>
        <p:nvSpPr>
          <p:cNvPr id="33" name="Framework text"/>
          <p:cNvSpPr txBox="1"/>
          <p:nvPr/>
        </p:nvSpPr>
        <p:spPr>
          <a:xfrm>
            <a:off x="6827368" y="51206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CON EL FRAMEWORK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comando ejecuta el flujo completo y entrega un reporte HTML con cada paso.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Caso de uso para aprobar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Creación de identidad, asignación de accesos y validación del aprovisionamiento</a:t>
            </a:r>
            <a:endParaRPr lang="en-US" sz="1800" dirty="0"/>
          </a:p>
        </p:txBody>
      </p:sp>
      <p:sp>
        <p:nvSpPr>
          <p:cNvPr id="4" name="Crear identidad en IdM card"/>
          <p:cNvSpPr/>
          <p:nvPr/>
        </p:nvSpPr>
        <p:spPr>
          <a:xfrm>
            <a:off x="548640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5" name="Crear identidad en IdM circle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Crear identidad en IdM icon" descr="Crear identidad en Id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91690"/>
            <a:ext cx="342900" cy="342900"/>
          </a:xfrm>
          <a:prstGeom prst="rect">
            <a:avLst/>
          </a:prstGeom>
        </p:spPr>
      </p:pic>
      <p:sp>
        <p:nvSpPr>
          <p:cNvPr id="7" name="Step 1 number"/>
          <p:cNvSpPr txBox="1"/>
          <p:nvPr/>
        </p:nvSpPr>
        <p:spPr>
          <a:xfrm>
            <a:off x="2202104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Crear identidad en IdM title"/>
          <p:cNvSpPr txBox="1"/>
          <p:nvPr/>
        </p:nvSpPr>
        <p:spPr>
          <a:xfrm>
            <a:off x="777240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Crear identidad en IdM</a:t>
            </a:r>
            <a:endParaRPr lang="en-US" sz="1800" dirty="0"/>
          </a:p>
        </p:txBody>
      </p:sp>
      <p:sp>
        <p:nvSpPr>
          <p:cNvPr id="9" name="Crear identidad en IdM text"/>
          <p:cNvSpPr txBox="1"/>
          <p:nvPr/>
        </p:nvSpPr>
        <p:spPr>
          <a:xfrm>
            <a:off x="777240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Alta del usuario en eDirectory</a:t>
            </a:r>
            <a:endParaRPr lang="en-US" sz="1400" dirty="0"/>
          </a:p>
        </p:txBody>
      </p:sp>
      <p:sp>
        <p:nvSpPr>
          <p:cNvPr id="10" name="Crear identidad en IdM tag"/>
          <p:cNvSpPr txBox="1"/>
          <p:nvPr/>
        </p:nvSpPr>
        <p:spPr>
          <a:xfrm>
            <a:off x="777240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LDAP</a:t>
            </a:r>
            <a:endParaRPr lang="en-US" sz="1200" dirty="0"/>
          </a:p>
        </p:txBody>
      </p:sp>
      <p:pic>
        <p:nvPicPr>
          <p:cNvPr id="11" name="Arrow 1" descr="Siguiente pa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216" y="2793492"/>
            <a:ext cx="219456" cy="219456"/>
          </a:xfrm>
          <a:prstGeom prst="rect">
            <a:avLst/>
          </a:prstGeom>
        </p:spPr>
      </p:pic>
      <p:sp>
        <p:nvSpPr>
          <p:cNvPr id="12" name="Asignar accesos en IdM card"/>
          <p:cNvSpPr/>
          <p:nvPr/>
        </p:nvSpPr>
        <p:spPr>
          <a:xfrm>
            <a:off x="3436544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13" name="Asignar accesos en IdM circle"/>
          <p:cNvSpPr/>
          <p:nvPr/>
        </p:nvSpPr>
        <p:spPr>
          <a:xfrm>
            <a:off x="3665144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4" name="Asignar accesos en IdM icon" descr="Asignar accesos en Id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594" y="2091690"/>
            <a:ext cx="342900" cy="342900"/>
          </a:xfrm>
          <a:prstGeom prst="rect">
            <a:avLst/>
          </a:prstGeom>
        </p:spPr>
      </p:pic>
      <p:sp>
        <p:nvSpPr>
          <p:cNvPr id="15" name="Step 2 number"/>
          <p:cNvSpPr txBox="1"/>
          <p:nvPr/>
        </p:nvSpPr>
        <p:spPr>
          <a:xfrm>
            <a:off x="5090008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2</a:t>
            </a:r>
            <a:endParaRPr lang="en-US" sz="3600" dirty="0"/>
          </a:p>
        </p:txBody>
      </p:sp>
      <p:sp>
        <p:nvSpPr>
          <p:cNvPr id="16" name="Asignar accesos en IdM title"/>
          <p:cNvSpPr txBox="1"/>
          <p:nvPr/>
        </p:nvSpPr>
        <p:spPr>
          <a:xfrm>
            <a:off x="3665144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Asignar accesos en IdM</a:t>
            </a:r>
            <a:endParaRPr lang="en-US" sz="1800" dirty="0"/>
          </a:p>
        </p:txBody>
      </p:sp>
      <p:sp>
        <p:nvSpPr>
          <p:cNvPr id="17" name="Asignar accesos en IdM text"/>
          <p:cNvSpPr txBox="1"/>
          <p:nvPr/>
        </p:nvSpPr>
        <p:spPr>
          <a:xfrm>
            <a:off x="3665144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Roles o recursos vía User Application</a:t>
            </a:r>
            <a:endParaRPr lang="en-US" sz="1400" dirty="0"/>
          </a:p>
        </p:txBody>
      </p:sp>
      <p:sp>
        <p:nvSpPr>
          <p:cNvPr id="18" name="Asignar accesos en IdM tag"/>
          <p:cNvSpPr txBox="1"/>
          <p:nvPr/>
        </p:nvSpPr>
        <p:spPr>
          <a:xfrm>
            <a:off x="3665144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SOAP</a:t>
            </a:r>
            <a:endParaRPr lang="en-US" sz="1200" dirty="0"/>
          </a:p>
        </p:txBody>
      </p:sp>
      <p:pic>
        <p:nvPicPr>
          <p:cNvPr id="19" name="Arrow 2" descr="Siguiente pas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2793492"/>
            <a:ext cx="219456" cy="219456"/>
          </a:xfrm>
          <a:prstGeom prst="rect">
            <a:avLst/>
          </a:prstGeom>
        </p:spPr>
      </p:pic>
      <p:sp>
        <p:nvSpPr>
          <p:cNvPr id="20" name="Validar en BD card"/>
          <p:cNvSpPr/>
          <p:nvPr/>
        </p:nvSpPr>
        <p:spPr>
          <a:xfrm>
            <a:off x="6324448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21" name="Validar en BD circle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2" name="Validar en BD icon" descr="Validar en B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23" name="Step 3 number"/>
          <p:cNvSpPr txBox="1"/>
          <p:nvPr/>
        </p:nvSpPr>
        <p:spPr>
          <a:xfrm>
            <a:off x="7977911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3</a:t>
            </a:r>
            <a:endParaRPr lang="en-US" sz="3600" dirty="0"/>
          </a:p>
        </p:txBody>
      </p:sp>
      <p:sp>
        <p:nvSpPr>
          <p:cNvPr id="24" name="Validar en BD title"/>
          <p:cNvSpPr txBox="1"/>
          <p:nvPr/>
        </p:nvSpPr>
        <p:spPr>
          <a:xfrm>
            <a:off x="6553048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Validar en BD</a:t>
            </a:r>
            <a:endParaRPr lang="en-US" sz="1800" dirty="0"/>
          </a:p>
        </p:txBody>
      </p:sp>
      <p:sp>
        <p:nvSpPr>
          <p:cNvPr id="25" name="Validar en BD text"/>
          <p:cNvSpPr txBox="1"/>
          <p:nvPr/>
        </p:nvSpPr>
        <p:spPr>
          <a:xfrm>
            <a:off x="6553048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Usuario y permisos en las tablas de la aplicación</a:t>
            </a:r>
            <a:endParaRPr lang="en-US" sz="1400" dirty="0"/>
          </a:p>
        </p:txBody>
      </p:sp>
      <p:sp>
        <p:nvSpPr>
          <p:cNvPr id="26" name="Validar en BD tag"/>
          <p:cNvSpPr txBox="1"/>
          <p:nvPr/>
        </p:nvSpPr>
        <p:spPr>
          <a:xfrm>
            <a:off x="6553048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SQL · con espera</a:t>
            </a:r>
            <a:endParaRPr lang="en-US" sz="1200" dirty="0"/>
          </a:p>
        </p:txBody>
      </p:sp>
      <p:pic>
        <p:nvPicPr>
          <p:cNvPr id="27" name="Arrow 3" descr="Siguiente pas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4023" y="2793492"/>
            <a:ext cx="219456" cy="219456"/>
          </a:xfrm>
          <a:prstGeom prst="rect">
            <a:avLst/>
          </a:prstGeom>
        </p:spPr>
      </p:pic>
      <p:sp>
        <p:nvSpPr>
          <p:cNvPr id="28" name="Validar en Active Directory card"/>
          <p:cNvSpPr/>
          <p:nvPr/>
        </p:nvSpPr>
        <p:spPr>
          <a:xfrm>
            <a:off x="9212351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29" name="Validar en Active Directory circle"/>
          <p:cNvSpPr/>
          <p:nvPr/>
        </p:nvSpPr>
        <p:spPr>
          <a:xfrm>
            <a:off x="9440951" y="1920240"/>
            <a:ext cx="685800" cy="68580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30" name="Validar en Active Directory icon" descr="Validar en Active Direc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2401" y="2091690"/>
            <a:ext cx="342900" cy="342900"/>
          </a:xfrm>
          <a:prstGeom prst="rect">
            <a:avLst/>
          </a:prstGeom>
        </p:spPr>
      </p:pic>
      <p:sp>
        <p:nvSpPr>
          <p:cNvPr id="31" name="Step 4 number"/>
          <p:cNvSpPr txBox="1"/>
          <p:nvPr/>
        </p:nvSpPr>
        <p:spPr>
          <a:xfrm>
            <a:off x="10865815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4</a:t>
            </a:r>
            <a:endParaRPr lang="en-US" sz="3600" dirty="0"/>
          </a:p>
        </p:txBody>
      </p:sp>
      <p:sp>
        <p:nvSpPr>
          <p:cNvPr id="32" name="Validar en Active Directory title"/>
          <p:cNvSpPr txBox="1"/>
          <p:nvPr/>
        </p:nvSpPr>
        <p:spPr>
          <a:xfrm>
            <a:off x="9440951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Validar en Active Directory</a:t>
            </a:r>
            <a:endParaRPr lang="en-US" sz="1800" dirty="0"/>
          </a:p>
        </p:txBody>
      </p:sp>
      <p:sp>
        <p:nvSpPr>
          <p:cNvPr id="33" name="Validar en Active Directory text"/>
          <p:cNvSpPr txBox="1"/>
          <p:nvPr/>
        </p:nvSpPr>
        <p:spPr>
          <a:xfrm>
            <a:off x="9440951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Cuenta creada y pertenencia a los grupos</a:t>
            </a:r>
            <a:endParaRPr lang="en-US" sz="1400" dirty="0"/>
          </a:p>
        </p:txBody>
      </p:sp>
      <p:sp>
        <p:nvSpPr>
          <p:cNvPr id="34" name="Validar en Active Directory tag"/>
          <p:cNvSpPr txBox="1"/>
          <p:nvPr/>
        </p:nvSpPr>
        <p:spPr>
          <a:xfrm>
            <a:off x="9440951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LDAP · con espera</a:t>
            </a:r>
            <a:endParaRPr lang="en-US" sz="1200" dirty="0"/>
          </a:p>
        </p:txBody>
      </p:sp>
      <p:sp>
        <p:nvSpPr>
          <p:cNvPr id="35" name="Success card"/>
          <p:cNvSpPr/>
          <p:nvPr/>
        </p:nvSpPr>
        <p:spPr>
          <a:xfrm>
            <a:off x="548640" y="4434840"/>
            <a:ext cx="5318608" cy="1737360"/>
          </a:xfrm>
          <a:prstGeom prst="roundRect">
            <a:avLst>
              <a:gd name="adj" fmla="val 6316"/>
            </a:avLst>
          </a:prstGeom>
          <a:solidFill>
            <a:srgbClr val="E3F4F1"/>
          </a:solidFill>
          <a:ln/>
        </p:spPr>
      </p:sp>
      <p:sp>
        <p:nvSpPr>
          <p:cNvPr id="36" name="Criterio de éxito circle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0F7B3E"/>
          </a:solidFill>
          <a:ln/>
        </p:spPr>
      </p:sp>
      <p:pic>
        <p:nvPicPr>
          <p:cNvPr id="37" name="Criterio de éxito icon" descr="Criterio de éxit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" y="4834890"/>
            <a:ext cx="251460" cy="251460"/>
          </a:xfrm>
          <a:prstGeom prst="rect">
            <a:avLst/>
          </a:prstGeom>
        </p:spPr>
      </p:pic>
      <p:sp>
        <p:nvSpPr>
          <p:cNvPr id="38" name="Success header"/>
          <p:cNvSpPr txBox="1"/>
          <p:nvPr/>
        </p:nvSpPr>
        <p:spPr>
          <a:xfrm>
            <a:off x="1508760" y="47091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CRITERIO DE ÉXITO</a:t>
            </a:r>
            <a:endParaRPr lang="en-US" sz="1400" dirty="0"/>
          </a:p>
        </p:txBody>
      </p:sp>
      <p:sp>
        <p:nvSpPr>
          <p:cNvPr id="39" name="Success text"/>
          <p:cNvSpPr txBox="1"/>
          <p:nvPr/>
        </p:nvSpPr>
        <p:spPr>
          <a:xfrm>
            <a:off x="822960" y="53492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reporte muestra los cuatro pasos aprobados para usuarios generados, sin revisar ninguna consola a mano.</a:t>
            </a:r>
            <a:endParaRPr lang="en-US" sz="1600" dirty="0"/>
          </a:p>
        </p:txBody>
      </p:sp>
      <p:sp>
        <p:nvSpPr>
          <p:cNvPr id="40" name="Demo card"/>
          <p:cNvSpPr/>
          <p:nvPr/>
        </p:nvSpPr>
        <p:spPr>
          <a:xfrm>
            <a:off x="6324448" y="4434840"/>
            <a:ext cx="5318608" cy="173736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/>
        </p:spPr>
      </p:sp>
      <p:sp>
        <p:nvSpPr>
          <p:cNvPr id="41" name="Lo que verán en la demo circle"/>
          <p:cNvSpPr/>
          <p:nvPr/>
        </p:nvSpPr>
        <p:spPr>
          <a:xfrm>
            <a:off x="6598768" y="470916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42" name="Lo que verán en la demo icon" descr="Lo que verán en la dem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498" y="4834890"/>
            <a:ext cx="251460" cy="251460"/>
          </a:xfrm>
          <a:prstGeom prst="rect">
            <a:avLst/>
          </a:prstGeom>
        </p:spPr>
      </p:pic>
      <p:sp>
        <p:nvSpPr>
          <p:cNvPr id="43" name="Demo header"/>
          <p:cNvSpPr txBox="1"/>
          <p:nvPr/>
        </p:nvSpPr>
        <p:spPr>
          <a:xfrm>
            <a:off x="7284568" y="47091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 QUE VERÁN EN LA DEMO</a:t>
            </a:r>
            <a:endParaRPr lang="en-US" sz="1400" dirty="0"/>
          </a:p>
        </p:txBody>
      </p:sp>
      <p:sp>
        <p:nvSpPr>
          <p:cNvPr id="44" name="Demo list"/>
          <p:cNvSpPr txBox="1"/>
          <p:nvPr/>
        </p:nvSpPr>
        <p:spPr>
          <a:xfrm>
            <a:off x="6598768" y="53035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Ejecutar el escenario desde el workbench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Leer el reporte HTML con la evidencia de cada paso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Revisar un paso fallido y su causa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Roadmap evolutivo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Del piloto en consultoría a un componente que se vende con las entregas</a:t>
            </a:r>
            <a:endParaRPr lang="en-US" sz="1800" dirty="0"/>
          </a:p>
        </p:txBody>
      </p:sp>
      <p:sp>
        <p:nvSpPr>
          <p:cNvPr id="4" name="Piloto card"/>
          <p:cNvSpPr/>
          <p:nvPr/>
        </p:nvSpPr>
        <p:spPr>
          <a:xfrm>
            <a:off x="548640" y="1645920"/>
            <a:ext cx="2567864" cy="4343400"/>
          </a:xfrm>
          <a:prstGeom prst="roundRect">
            <a:avLst>
              <a:gd name="adj" fmla="val 4273"/>
            </a:avLst>
          </a:prstGeom>
          <a:solidFill>
            <a:srgbClr val="E3F4F1"/>
          </a:solidFill>
          <a:ln/>
        </p:spPr>
      </p:sp>
      <p:sp>
        <p:nvSpPr>
          <p:cNvPr id="5" name="Piloto circle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6" name="Piloto icon" descr="Pil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Piloto number"/>
          <p:cNvSpPr txBox="1"/>
          <p:nvPr/>
        </p:nvSpPr>
        <p:spPr>
          <a:xfrm>
            <a:off x="1463040" y="18745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8B"/>
                </a:solidFill>
              </a:rPr>
              <a:t>FASE 0</a:t>
            </a:r>
            <a:endParaRPr lang="en-US" sz="1300" dirty="0"/>
          </a:p>
        </p:txBody>
      </p:sp>
      <p:sp>
        <p:nvSpPr>
          <p:cNvPr id="8" name="Piloto title"/>
          <p:cNvSpPr txBox="1"/>
          <p:nvPr/>
        </p:nvSpPr>
        <p:spPr>
          <a:xfrm>
            <a:off x="777240" y="2560320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Piloto</a:t>
            </a:r>
            <a:endParaRPr lang="en-US" sz="1800" dirty="0"/>
          </a:p>
        </p:txBody>
      </p:sp>
      <p:sp>
        <p:nvSpPr>
          <p:cNvPr id="9" name="Piloto goal"/>
          <p:cNvSpPr txBox="1"/>
          <p:nvPr/>
        </p:nvSpPr>
        <p:spPr>
          <a:xfrm>
            <a:off x="777240" y="292608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Probar el valor en consultoría</a:t>
            </a:r>
            <a:endParaRPr lang="en-US" sz="1300" dirty="0"/>
          </a:p>
        </p:txBody>
      </p:sp>
      <p:sp>
        <p:nvSpPr>
          <p:cNvPr id="10" name="Piloto items"/>
          <p:cNvSpPr txBox="1"/>
          <p:nvPr/>
        </p:nvSpPr>
        <p:spPr>
          <a:xfrm>
            <a:off x="777240" y="3383280"/>
            <a:ext cx="2202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Caso IdM → BD → AD en el laboratorio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Medir tiempo manual contra automatizado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Reporte del piloto al equipo</a:t>
            </a:r>
            <a:endParaRPr lang="en-US" sz="1300" dirty="0"/>
          </a:p>
        </p:txBody>
      </p:sp>
      <p:pic>
        <p:nvPicPr>
          <p:cNvPr id="11" name="Phase arrow 1" descr="Siguiente f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368" y="2039112"/>
            <a:ext cx="164592" cy="219456"/>
          </a:xfrm>
          <a:prstGeom prst="rect">
            <a:avLst/>
          </a:prstGeom>
        </p:spPr>
      </p:pic>
      <p:sp>
        <p:nvSpPr>
          <p:cNvPr id="12" name="Listo para entregas card"/>
          <p:cNvSpPr/>
          <p:nvPr/>
        </p:nvSpPr>
        <p:spPr>
          <a:xfrm>
            <a:off x="3390824" y="1645920"/>
            <a:ext cx="2567864" cy="4343400"/>
          </a:xfrm>
          <a:prstGeom prst="roundRect">
            <a:avLst>
              <a:gd name="adj" fmla="val 4273"/>
            </a:avLst>
          </a:prstGeom>
          <a:solidFill>
            <a:srgbClr val="EEF3F9"/>
          </a:solidFill>
          <a:ln/>
        </p:spPr>
      </p:sp>
      <p:sp>
        <p:nvSpPr>
          <p:cNvPr id="13" name="Listo para entregas circle"/>
          <p:cNvSpPr/>
          <p:nvPr/>
        </p:nvSpPr>
        <p:spPr>
          <a:xfrm>
            <a:off x="3619424" y="1874520"/>
            <a:ext cx="548640" cy="54864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4" name="Listo para entregas icon" descr="Listo para entreg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584" y="2011680"/>
            <a:ext cx="274320" cy="274320"/>
          </a:xfrm>
          <a:prstGeom prst="rect">
            <a:avLst/>
          </a:prstGeom>
        </p:spPr>
      </p:pic>
      <p:sp>
        <p:nvSpPr>
          <p:cNvPr id="15" name="Listo para entregas number"/>
          <p:cNvSpPr txBox="1"/>
          <p:nvPr/>
        </p:nvSpPr>
        <p:spPr>
          <a:xfrm>
            <a:off x="4305224" y="18745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3A5"/>
                </a:solidFill>
              </a:rPr>
              <a:t>FASE 1</a:t>
            </a:r>
            <a:endParaRPr lang="en-US" sz="1300" dirty="0"/>
          </a:p>
        </p:txBody>
      </p:sp>
      <p:sp>
        <p:nvSpPr>
          <p:cNvPr id="16" name="Listo para entregas title"/>
          <p:cNvSpPr txBox="1"/>
          <p:nvPr/>
        </p:nvSpPr>
        <p:spPr>
          <a:xfrm>
            <a:off x="3619424" y="2560320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Listo para entregas</a:t>
            </a:r>
            <a:endParaRPr lang="en-US" sz="1800" dirty="0"/>
          </a:p>
        </p:txBody>
      </p:sp>
      <p:sp>
        <p:nvSpPr>
          <p:cNvPr id="17" name="Listo para entregas goal"/>
          <p:cNvSpPr txBox="1"/>
          <p:nvPr/>
        </p:nvSpPr>
        <p:spPr>
          <a:xfrm>
            <a:off x="3619424" y="292608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Usarlo en proyectos reales</a:t>
            </a:r>
            <a:endParaRPr lang="en-US" sz="1300" dirty="0"/>
          </a:p>
        </p:txBody>
      </p:sp>
      <p:sp>
        <p:nvSpPr>
          <p:cNvPr id="18" name="Listo para entregas items"/>
          <p:cNvSpPr txBox="1"/>
          <p:nvPr/>
        </p:nvSpPr>
        <p:spPr>
          <a:xfrm>
            <a:off x="3619424" y="3383280"/>
            <a:ext cx="2202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 completo: contraseñas y estado de cuenta (ITF-33)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Seguridad y Oracle antiguo (ITF-67, 29, 68, 16)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Consola Windows y español completo (ITF-59, 54)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Pulido del workbench (ITF-65, 69)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Conector de archivos de texto (CSV)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</p:txBody>
      </p:sp>
      <p:pic>
        <p:nvPicPr>
          <p:cNvPr id="19" name="Phase arrow 2" descr="Siguiente f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552" y="2039112"/>
            <a:ext cx="164592" cy="219456"/>
          </a:xfrm>
          <a:prstGeom prst="rect">
            <a:avLst/>
          </a:prstGeom>
        </p:spPr>
      </p:pic>
      <p:sp>
        <p:nvSpPr>
          <p:cNvPr id="20" name="Escala y reutilización card"/>
          <p:cNvSpPr/>
          <p:nvPr/>
        </p:nvSpPr>
        <p:spPr>
          <a:xfrm>
            <a:off x="6233008" y="1645920"/>
            <a:ext cx="2567864" cy="4343400"/>
          </a:xfrm>
          <a:prstGeom prst="roundRect">
            <a:avLst>
              <a:gd name="adj" fmla="val 4273"/>
            </a:avLst>
          </a:prstGeom>
          <a:solidFill>
            <a:srgbClr val="EEF3F9"/>
          </a:solidFill>
          <a:ln/>
        </p:spPr>
      </p:sp>
      <p:sp>
        <p:nvSpPr>
          <p:cNvPr id="21" name="Escala y reutilización circle"/>
          <p:cNvSpPr/>
          <p:nvPr/>
        </p:nvSpPr>
        <p:spPr>
          <a:xfrm>
            <a:off x="6461608" y="1874520"/>
            <a:ext cx="548640" cy="54864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22" name="Escala y reutilización icon" descr="Escala y reutilizació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8" y="2011680"/>
            <a:ext cx="274320" cy="274320"/>
          </a:xfrm>
          <a:prstGeom prst="rect">
            <a:avLst/>
          </a:prstGeom>
        </p:spPr>
      </p:pic>
      <p:sp>
        <p:nvSpPr>
          <p:cNvPr id="23" name="Escala y reutilización number"/>
          <p:cNvSpPr txBox="1"/>
          <p:nvPr/>
        </p:nvSpPr>
        <p:spPr>
          <a:xfrm>
            <a:off x="7147408" y="18745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63A5"/>
                </a:solidFill>
              </a:rPr>
              <a:t>FASE 2</a:t>
            </a:r>
            <a:endParaRPr lang="en-US" sz="1300" dirty="0"/>
          </a:p>
        </p:txBody>
      </p:sp>
      <p:sp>
        <p:nvSpPr>
          <p:cNvPr id="24" name="Escala y reutilización title"/>
          <p:cNvSpPr txBox="1"/>
          <p:nvPr/>
        </p:nvSpPr>
        <p:spPr>
          <a:xfrm>
            <a:off x="6461608" y="2560320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Escala y reutilización</a:t>
            </a:r>
            <a:endParaRPr lang="en-US" sz="1800" dirty="0"/>
          </a:p>
        </p:txBody>
      </p:sp>
      <p:sp>
        <p:nvSpPr>
          <p:cNvPr id="25" name="Escala y reutilización goal"/>
          <p:cNvSpPr txBox="1"/>
          <p:nvPr/>
        </p:nvSpPr>
        <p:spPr>
          <a:xfrm>
            <a:off x="6461608" y="292608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Más casos con menos YAML</a:t>
            </a:r>
            <a:endParaRPr lang="en-US" sz="1300" dirty="0"/>
          </a:p>
        </p:txBody>
      </p:sp>
      <p:sp>
        <p:nvSpPr>
          <p:cNvPr id="26" name="Escala y reutilización items"/>
          <p:cNvSpPr txBox="1"/>
          <p:nvPr/>
        </p:nvSpPr>
        <p:spPr>
          <a:xfrm>
            <a:off x="6461608" y="3383280"/>
            <a:ext cx="2202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Escenarios guiados por datos, luego Iterator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Reutilizar pasos entre escenarios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Conector Execute con comandos registrados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Colaboración vía Git (ITF-57)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Biblioteca de escenarios por driver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</p:txBody>
      </p:sp>
      <p:pic>
        <p:nvPicPr>
          <p:cNvPr id="27" name="Phase arrow 3" descr="Siguiente f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735" y="2039112"/>
            <a:ext cx="164592" cy="219456"/>
          </a:xfrm>
          <a:prstGeom prst="rect">
            <a:avLst/>
          </a:prstGeom>
        </p:spPr>
      </p:pic>
      <p:sp>
        <p:nvSpPr>
          <p:cNvPr id="28" name="Producto / add-on card"/>
          <p:cNvSpPr/>
          <p:nvPr/>
        </p:nvSpPr>
        <p:spPr>
          <a:xfrm>
            <a:off x="9075191" y="1645920"/>
            <a:ext cx="2567864" cy="4343400"/>
          </a:xfrm>
          <a:prstGeom prst="roundRect">
            <a:avLst>
              <a:gd name="adj" fmla="val 4273"/>
            </a:avLst>
          </a:prstGeom>
          <a:solidFill>
            <a:srgbClr val="EEF3F9"/>
          </a:solidFill>
          <a:ln/>
        </p:spPr>
      </p:sp>
      <p:sp>
        <p:nvSpPr>
          <p:cNvPr id="29" name="Producto / add-on circle"/>
          <p:cNvSpPr/>
          <p:nvPr/>
        </p:nvSpPr>
        <p:spPr>
          <a:xfrm>
            <a:off x="9303791" y="1874520"/>
            <a:ext cx="548640" cy="54864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30" name="Producto / add-on icon" descr="Producto / add-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0951" y="2011680"/>
            <a:ext cx="274320" cy="274320"/>
          </a:xfrm>
          <a:prstGeom prst="rect">
            <a:avLst/>
          </a:prstGeom>
        </p:spPr>
      </p:pic>
      <p:sp>
        <p:nvSpPr>
          <p:cNvPr id="31" name="Producto / add-on number"/>
          <p:cNvSpPr txBox="1"/>
          <p:nvPr/>
        </p:nvSpPr>
        <p:spPr>
          <a:xfrm>
            <a:off x="9989591" y="1874520"/>
            <a:ext cx="1470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22B"/>
                </a:solidFill>
              </a:rPr>
              <a:t>FASE 3</a:t>
            </a:r>
            <a:endParaRPr lang="en-US" sz="1300" dirty="0"/>
          </a:p>
        </p:txBody>
      </p:sp>
      <p:sp>
        <p:nvSpPr>
          <p:cNvPr id="32" name="Producto / add-on title"/>
          <p:cNvSpPr txBox="1"/>
          <p:nvPr/>
        </p:nvSpPr>
        <p:spPr>
          <a:xfrm>
            <a:off x="9303791" y="2560320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Producto / add-on</a:t>
            </a:r>
            <a:endParaRPr lang="en-US" sz="1800" dirty="0"/>
          </a:p>
        </p:txBody>
      </p:sp>
      <p:sp>
        <p:nvSpPr>
          <p:cNvPr id="33" name="Producto / add-on goal"/>
          <p:cNvSpPr txBox="1"/>
          <p:nvPr/>
        </p:nvSpPr>
        <p:spPr>
          <a:xfrm>
            <a:off x="9303791" y="2926080"/>
            <a:ext cx="215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Venderlo como componente</a:t>
            </a:r>
            <a:endParaRPr lang="en-US" sz="1300" dirty="0"/>
          </a:p>
        </p:txBody>
      </p:sp>
      <p:sp>
        <p:nvSpPr>
          <p:cNvPr id="34" name="Producto / add-on items"/>
          <p:cNvSpPr txBox="1"/>
          <p:nvPr/>
        </p:nvSpPr>
        <p:spPr>
          <a:xfrm>
            <a:off x="9303791" y="3383280"/>
            <a:ext cx="22021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Workbench multiusuario con inicio de sesión (ITF-61)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Ejecución programada y en CI/CD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Ejecución en paralelo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Empaquetado y licencia comercial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  NUEVO</a:t>
            </a:r>
            <a:endParaRPr lang="en-US" sz="1300" dirty="0"/>
          </a:p>
        </p:txBody>
      </p:sp>
      <p:sp>
        <p:nvSpPr>
          <p:cNvPr id="35" name="Roadmap note"/>
          <p:cNvSpPr txBox="1"/>
          <p:nvPr/>
        </p:nvSpPr>
        <p:spPr>
          <a:xfrm>
            <a:off x="548640" y="6099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Hoy se aprueba la fase 0.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Los códigos ITF son tickets abiertos; NUEVO marca propuestas sin ticket. Las fases siguientes dependen del resultado del piloto.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Modelo de licenciamiento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Qué permite el código de terceros y qué falta definir antes de vender</a:t>
            </a:r>
            <a:endParaRPr lang="en-US" sz="1800" dirty="0"/>
          </a:p>
        </p:txBody>
      </p:sp>
      <p:sp>
        <p:nvSpPr>
          <p:cNvPr id="4" name="INCLUIDA EN LA ENTREGA card"/>
          <p:cNvSpPr/>
          <p:nvPr/>
        </p:nvSpPr>
        <p:spPr>
          <a:xfrm>
            <a:off x="548640" y="1645920"/>
            <a:ext cx="5364328" cy="146304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/>
        </p:spPr>
      </p:sp>
      <p:sp>
        <p:nvSpPr>
          <p:cNvPr id="5" name="INCLUIDA EN LA ENTREGA circle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INCLUIDA EN LA ENTREGA icon" descr="INCLUIDA EN LA ENTREG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45970"/>
            <a:ext cx="251460" cy="251460"/>
          </a:xfrm>
          <a:prstGeom prst="rect">
            <a:avLst/>
          </a:prstGeom>
        </p:spPr>
      </p:pic>
      <p:sp>
        <p:nvSpPr>
          <p:cNvPr id="7" name="INCLUIDA EN LA ENTREGA header"/>
          <p:cNvSpPr txBox="1"/>
          <p:nvPr/>
        </p:nvSpPr>
        <p:spPr>
          <a:xfrm>
            <a:off x="1508760" y="192024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INCLUIDA EN LA ENTREGA</a:t>
            </a:r>
            <a:endParaRPr lang="en-US" sz="1400" dirty="0"/>
          </a:p>
        </p:txBody>
      </p:sp>
      <p:sp>
        <p:nvSpPr>
          <p:cNvPr id="8" name="INCLUIDA EN LA ENTREGA text"/>
          <p:cNvSpPr txBox="1"/>
          <p:nvPr/>
        </p:nvSpPr>
        <p:spPr>
          <a:xfrm>
            <a:off x="822960" y="25146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herramienta forma parte del proyecto. Definir si el cliente conserva el derecho de uso al cerrarlo.</a:t>
            </a:r>
            <a:endParaRPr lang="en-US" sz="1400" dirty="0"/>
          </a:p>
        </p:txBody>
      </p:sp>
      <p:sp>
        <p:nvSpPr>
          <p:cNvPr id="9" name="ADD-ON CON CONSULTORÍA card"/>
          <p:cNvSpPr/>
          <p:nvPr/>
        </p:nvSpPr>
        <p:spPr>
          <a:xfrm>
            <a:off x="6278728" y="1645920"/>
            <a:ext cx="5364328" cy="146304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/>
        </p:spPr>
      </p:sp>
      <p:sp>
        <p:nvSpPr>
          <p:cNvPr id="10" name="ADD-ON CON CONSULTORÍA circle"/>
          <p:cNvSpPr/>
          <p:nvPr/>
        </p:nvSpPr>
        <p:spPr>
          <a:xfrm>
            <a:off x="6553048" y="192024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1" name="ADD-ON CON CONSULTORÍA icon" descr="ADD-ON CON CONSULTORÍ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045970"/>
            <a:ext cx="251460" cy="251460"/>
          </a:xfrm>
          <a:prstGeom prst="rect">
            <a:avLst/>
          </a:prstGeom>
        </p:spPr>
      </p:pic>
      <p:sp>
        <p:nvSpPr>
          <p:cNvPr id="12" name="ADD-ON CON CONSULTORÍA header"/>
          <p:cNvSpPr txBox="1"/>
          <p:nvPr/>
        </p:nvSpPr>
        <p:spPr>
          <a:xfrm>
            <a:off x="7238848" y="192024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ADD-ON CON CONSULTORÍA</a:t>
            </a:r>
            <a:endParaRPr lang="en-US" sz="1400" dirty="0"/>
          </a:p>
        </p:txBody>
      </p:sp>
      <p:sp>
        <p:nvSpPr>
          <p:cNvPr id="13" name="ADD-ON CON CONSULTORÍA text"/>
          <p:cNvSpPr txBox="1"/>
          <p:nvPr/>
        </p:nvSpPr>
        <p:spPr>
          <a:xfrm>
            <a:off x="6553048" y="251460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Suscripción o licencia perpetua por ambiente, con soporte, actualizaciones y escenarios a medida.</a:t>
            </a:r>
            <a:endParaRPr lang="en-US" sz="1400" dirty="0"/>
          </a:p>
        </p:txBody>
      </p:sp>
      <p:sp>
        <p:nvSpPr>
          <p:cNvPr id="14" name="Resolved card"/>
          <p:cNvSpPr/>
          <p:nvPr/>
        </p:nvSpPr>
        <p:spPr>
          <a:xfrm>
            <a:off x="548640" y="3383280"/>
            <a:ext cx="5364328" cy="2788920"/>
          </a:xfrm>
          <a:prstGeom prst="roundRect">
            <a:avLst>
              <a:gd name="adj" fmla="val 3934"/>
            </a:avLst>
          </a:prstGeom>
          <a:solidFill>
            <a:srgbClr val="E3F4F1"/>
          </a:solidFill>
          <a:ln/>
        </p:spPr>
      </p:sp>
      <p:sp>
        <p:nvSpPr>
          <p:cNvPr id="15" name="Ya resuelto circle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0F7B3E"/>
          </a:solidFill>
          <a:ln/>
        </p:spPr>
      </p:sp>
      <p:pic>
        <p:nvPicPr>
          <p:cNvPr id="16" name="Ya resuelto icon" descr="Ya resuel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783330"/>
            <a:ext cx="251460" cy="251460"/>
          </a:xfrm>
          <a:prstGeom prst="rect">
            <a:avLst/>
          </a:prstGeom>
        </p:spPr>
      </p:pic>
      <p:sp>
        <p:nvSpPr>
          <p:cNvPr id="17" name="Resolved header"/>
          <p:cNvSpPr txBox="1"/>
          <p:nvPr/>
        </p:nvSpPr>
        <p:spPr>
          <a:xfrm>
            <a:off x="1508760" y="365760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YA RESUELTO</a:t>
            </a:r>
            <a:endParaRPr lang="en-US" sz="1400" dirty="0"/>
          </a:p>
        </p:txBody>
      </p:sp>
      <p:sp>
        <p:nvSpPr>
          <p:cNvPr id="18" name="Resolved list"/>
          <p:cNvSpPr txBox="1"/>
          <p:nvPr/>
        </p:nvSpPr>
        <p:spPr>
          <a:xfrm>
            <a:off x="822960" y="429768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Componentes de terceros con licencias de uso comercial (Apache, MIT, BSD, EPL)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Avisos de licencia de terceros incluidos en el ZIP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Rhino, Logback y driver Oracle se usan sin modificar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 incluido: OpenJDK con Classpath Exception</a:t>
            </a:r>
            <a:endParaRPr lang="en-US" sz="1400" dirty="0"/>
          </a:p>
        </p:txBody>
      </p:sp>
      <p:sp>
        <p:nvSpPr>
          <p:cNvPr id="19" name="Pending card"/>
          <p:cNvSpPr/>
          <p:nvPr/>
        </p:nvSpPr>
        <p:spPr>
          <a:xfrm>
            <a:off x="6278728" y="3383280"/>
            <a:ext cx="5364328" cy="2788920"/>
          </a:xfrm>
          <a:prstGeom prst="roundRect">
            <a:avLst>
              <a:gd name="adj" fmla="val 3934"/>
            </a:avLst>
          </a:prstGeom>
          <a:solidFill>
            <a:srgbClr val="FBEFE2"/>
          </a:solidFill>
          <a:ln/>
        </p:spPr>
      </p:sp>
      <p:sp>
        <p:nvSpPr>
          <p:cNvPr id="20" name="Pendiente antes de vender circle"/>
          <p:cNvSpPr/>
          <p:nvPr/>
        </p:nvSpPr>
        <p:spPr>
          <a:xfrm>
            <a:off x="6553048" y="3657600"/>
            <a:ext cx="502920" cy="50292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21" name="Pendiente antes de vender icon" descr="Pendiente antes de ven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3783330"/>
            <a:ext cx="251460" cy="251460"/>
          </a:xfrm>
          <a:prstGeom prst="rect">
            <a:avLst/>
          </a:prstGeom>
        </p:spPr>
      </p:pic>
      <p:sp>
        <p:nvSpPr>
          <p:cNvPr id="22" name="Pending header"/>
          <p:cNvSpPr txBox="1"/>
          <p:nvPr/>
        </p:nvSpPr>
        <p:spPr>
          <a:xfrm>
            <a:off x="7238848" y="365760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410"/>
                </a:solidFill>
              </a:rPr>
              <a:t>PENDIENTE ANTES DE VENDER</a:t>
            </a:r>
            <a:endParaRPr lang="en-US" sz="1400" dirty="0"/>
          </a:p>
        </p:txBody>
      </p:sp>
      <p:sp>
        <p:nvSpPr>
          <p:cNvPr id="23" name="Pending list"/>
          <p:cNvSpPr txBox="1"/>
          <p:nvPr/>
        </p:nvSpPr>
        <p:spPr>
          <a:xfrm>
            <a:off x="6553048" y="429768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Propiedad del código: cesión o contrato con la empresa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Licencia propia (EULA): uso, soporte y responsabilidad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Contrato: el cliente aporta sus licencias de IdM, AD y BD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WSDL de User Application y marcas de OpenText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Revisar el acuerdo de partner con OpenText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Fijar un Java redistribuible (Eclipse Temurin)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M Test Framework">
  <a:themeElements>
    <a:clrScheme name="IdM Test Framework">
      <a:dk1>
        <a:srgbClr val="14263F"/>
      </a:dk1>
      <a:lt1>
        <a:srgbClr val="FFFFFF"/>
      </a:lt1>
      <a:dk2>
        <a:srgbClr val="22334B"/>
      </a:dk2>
      <a:lt2>
        <a:srgbClr val="EEF3F9"/>
      </a:lt2>
      <a:accent1>
        <a:srgbClr val="2463A5"/>
      </a:accent1>
      <a:accent2>
        <a:srgbClr val="1F9D8B"/>
      </a:accent2>
      <a:accent3>
        <a:srgbClr val="D9822B"/>
      </a:accent3>
      <a:accent4>
        <a:srgbClr val="617080"/>
      </a:accent4>
      <a:accent5>
        <a:srgbClr val="CADCFC"/>
      </a:accent5>
      <a:accent6>
        <a:srgbClr val="0F7B3E"/>
      </a:accent6>
      <a:hlink>
        <a:srgbClr val="2463A5"/>
      </a:hlink>
      <a:folHlink>
        <a:srgbClr val="617080"/>
      </a:folHlink>
    </a:clrScheme>
    <a:fontScheme name="IdM Test Framewo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ejecutiva — IdM Test Framework (v3)</dc:title>
  <dc:subject>PptxGenJS Presentation</dc:subject>
  <dc:creator>pepaoo</dc:creator>
  <cp:lastModifiedBy>pepaoo</cp:lastModifiedBy>
  <cp:revision>1</cp:revision>
  <dcterms:created xsi:type="dcterms:W3CDTF">2026-10-29T15:54:34Z</dcterms:created>
  <dcterms:modified xsi:type="dcterms:W3CDTF">2026-10-29T15:54:34Z</dcterms:modified>
</cp:coreProperties>
</file>