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9468eb17984a4f" /><Relationship Type="http://schemas.openxmlformats.org/officeDocument/2006/relationships/extended-properties" Target="/docProps/app.xml" Id="R965625328fc249e6" /><Relationship Type="http://schemas.openxmlformats.org/officeDocument/2006/relationships/officeDocument" Target="/ppt/presentation.xml" Id="Ra099315cfaab4e81" /></Relationships>
</file>

<file path=ppt/presentation.xml><?xml version="1.0" encoding="utf-8"?>
<p:presentation xmlns:p="http://schemas.openxmlformats.org/presentationml/2006/main">
  <p:sldMasterIdLst>
    <p:sldMasterId xmlns:r="http://schemas.openxmlformats.org/officeDocument/2006/relationships" id="2147483648" r:id="Rb801f65b61ee4791"/>
  </p:sldMasterIdLst>
  <p:notesMasterIdLst>
    <p:notesMasterId xmlns:r="http://schemas.openxmlformats.org/officeDocument/2006/relationships" r:id="Rf75e1a69812847e3"/>
  </p:notesMasterIdLst>
  <p:sldIdLst>
    <p:sldId xmlns:r="http://schemas.openxmlformats.org/officeDocument/2006/relationships" id="256" r:id="R6e7a7ec8ac5c470a"/>
    <p:sldId xmlns:r="http://schemas.openxmlformats.org/officeDocument/2006/relationships" id="257" r:id="Rb6488f8b8652489a"/>
    <p:sldId xmlns:r="http://schemas.openxmlformats.org/officeDocument/2006/relationships" id="258" r:id="Reb482f0df4554088"/>
    <p:sldId xmlns:r="http://schemas.openxmlformats.org/officeDocument/2006/relationships" id="259" r:id="R5381bbc2cd7348f7"/>
    <p:sldId xmlns:r="http://schemas.openxmlformats.org/officeDocument/2006/relationships" id="260" r:id="R6cbeaed06d8d4c9d"/>
    <p:sldId xmlns:r="http://schemas.openxmlformats.org/officeDocument/2006/relationships" id="261" r:id="Rc944514afcad4141"/>
    <p:sldId xmlns:r="http://schemas.openxmlformats.org/officeDocument/2006/relationships" id="262" r:id="R2d789e8d2e9340a8"/>
    <p:sldId xmlns:r="http://schemas.openxmlformats.org/officeDocument/2006/relationships" id="263" r:id="R90881573b27d47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f1dc5fb64a47fe" /><Relationship Type="http://schemas.openxmlformats.org/officeDocument/2006/relationships/slideMaster" Target="/ppt/slideMasters/slideMaster1.xml" Id="Rb801f65b61ee4791" /><Relationship Type="http://schemas.openxmlformats.org/officeDocument/2006/relationships/notesMaster" Target="/ppt/notesMasters/notesMaster1.xml" Id="Rf75e1a69812847e3" /><Relationship Type="http://schemas.openxmlformats.org/officeDocument/2006/relationships/presProps" Target="/ppt/presProps.xml" Id="R558b31da96bd4640" /><Relationship Type="http://schemas.openxmlformats.org/officeDocument/2006/relationships/tableStyles" Target="/ppt/tableStyles.xml" Id="R9f538deffd72429d" /><Relationship Type="http://schemas.openxmlformats.org/officeDocument/2006/relationships/slide" Target="/ppt/slides/slide1.xml" Id="R6e7a7ec8ac5c470a" /><Relationship Type="http://schemas.openxmlformats.org/officeDocument/2006/relationships/slide" Target="/ppt/slides/slide2.xml" Id="Rb6488f8b8652489a" /><Relationship Type="http://schemas.openxmlformats.org/officeDocument/2006/relationships/slide" Target="/ppt/slides/slide3.xml" Id="Reb482f0df4554088" /><Relationship Type="http://schemas.openxmlformats.org/officeDocument/2006/relationships/slide" Target="/ppt/slides/slide4.xml" Id="R5381bbc2cd7348f7" /><Relationship Type="http://schemas.openxmlformats.org/officeDocument/2006/relationships/slide" Target="/ppt/slides/slide5.xml" Id="R6cbeaed06d8d4c9d" /><Relationship Type="http://schemas.openxmlformats.org/officeDocument/2006/relationships/slide" Target="/ppt/slides/slide6.xml" Id="Rc944514afcad4141" /><Relationship Type="http://schemas.openxmlformats.org/officeDocument/2006/relationships/slide" Target="/ppt/slides/slide7.xml" Id="R2d789e8d2e9340a8" /><Relationship Type="http://schemas.openxmlformats.org/officeDocument/2006/relationships/slide" Target="/ppt/slides/slide8.xml" Id="R90881573b27d47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500b50029546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e1bc4276d487d" /><Relationship Type="http://schemas.openxmlformats.org/officeDocument/2006/relationships/notesMaster" Target="/ppt/notesMasters/notesMaster1.xml" Id="R8e8893493c3e4c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00ad4715dc4c24" /><Relationship Type="http://schemas.openxmlformats.org/officeDocument/2006/relationships/notesMaster" Target="/ppt/notesMasters/notesMaster1.xml" Id="R4e49523c9ff546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3d41f1a9ab43d2" /><Relationship Type="http://schemas.openxmlformats.org/officeDocument/2006/relationships/notesMaster" Target="/ppt/notesMasters/notesMaster1.xml" Id="R92bfa57b55ba4c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48b6dc13af439d" /><Relationship Type="http://schemas.openxmlformats.org/officeDocument/2006/relationships/notesMaster" Target="/ppt/notesMasters/notesMaster1.xml" Id="R93972084e4bc47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43fa2d31c0433b" /><Relationship Type="http://schemas.openxmlformats.org/officeDocument/2006/relationships/notesMaster" Target="/ppt/notesMasters/notesMaster1.xml" Id="R321495076cb24e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4cf0fee4474ff3" /><Relationship Type="http://schemas.openxmlformats.org/officeDocument/2006/relationships/notesMaster" Target="/ppt/notesMasters/notesMaster1.xml" Id="Rc2eed10cb7594b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6181179e55439a" /><Relationship Type="http://schemas.openxmlformats.org/officeDocument/2006/relationships/notesMaster" Target="/ppt/notesMasters/notesMaster1.xml" Id="Rb7a78bbee0094d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655e64108a421b" /><Relationship Type="http://schemas.openxmlformats.org/officeDocument/2006/relationships/notesMaster" Target="/ppt/notesMasters/notesMaster1.xml" Id="R9238713c0a4443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integration testing tools for Identity Management workflows. Provisioning means propagation of identity or access changes into target systems. A successful request is not necessarily proof that a target has the right state. Introduce the project in approximately one minute. Sources: docs/overview.md; docs/reference/specification.md.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YAML is intended for consultants who want to describe a workflow as data. Java remains available for unsupported YAML operations and more complex control flow. Both reuse connectors, so connector fixes can help both paths. A scenario is an ordered workflow; a connector performs protocol operations; an assertion checks observed state. Allow two minutes. Sources: docs/overview.md; docs/architecture/decisions/0001-two-authoring-tiers.md.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simplified editable version of docs/architecture/diagrams/system-context.mmd. Rectangles identify persons/software systems; protocol labels identify boundaries. LDAP/JDBC/HTTP capabilities exist. The real Identity Manager integration is a target and has not been validated by the embedded suite. SOAP transport is generated JAX-WS, and REST OAuth/real endpoint wiring has limitations. Allow two minutes. Sources: docs/architecture/README.md sections 2–4; docs/architecture/capabilities.md.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full runnable example at idm-test-scenarios/src/test/resources/scenarios/user-provisioning.yaml. This slide is an excerpt: the fixture and create attributes are omitted for readability. The authoring guide contains the complete scenario. Explain that created holds a relative distinguished name, or DN. The check waits for the expected attribute and the create step supplies deletion cleanup. Allow two minutes. Source: docs/guides/scenario-authoring.md.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editable module view derived from docs/architecture/diagrams/modules.mmd. The engine contains parsing, validation, value handling and ordered execution. It uses LDAP steps today; Java callers have broader connector APIs. Core and utilities provide shared result, wait and data support. All are libraries in the test runtime, not microservices. The engine main sources do not import Spring/JUnit, although its dependencies bring Spring transitively. Source: docs/architecture/README.md sections 3–4. Allow two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Simplifies the full sequence diagram at docs/architecture/diagrams/scenario-execution.mmd. Files are validated before dynamic test execution. Parameters resolve once per ordinary step. Only assertions with wait are polled; actions run once. The first failure stops later steps. Registered undo actions run in reverse, best effort. Runtime result data is returned to the adapter, which writes JSON and reports JUnit success/failure. Cleanup failures are logged and do not replace the scenario result. Allow two minutes. Sources: docs/reference/specification.md sections 4 and 6; ADR 0004 and 0005.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from the repository root with JDK 21. The full suite baseline on 2026-09-15 at revision 104e388a555f9e22d0c415290ff2edc606402a59 was 320 tests, zero failures/errors/skips. The selected tutorial command was also executed successfully. Show the console and scenario-results.json after the run, if time permits. The suite uses embedded UnboundID, H2 and WireMock; it validates framework behavior rather than a real Identity Manager. Results contain resolved values without redaction; use synthetic data. Sources: docs/reference/running-tests.md; docs/architecture/capabilities.md. Allow two minutes including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Available: YAML LDAP create/verify, fixtures, interpolation, expressions, variables/capture and structured results; broader Java connector APIs. Approved next work includes additional YAML operations and converting suitable Java scenarios. Real IdM validation needs separate wiring/authentication and actual provisioning workflows. CLI, frontend, HTML reports and parallel scenarios are deferred, not committed delivery promises. Invite coworkers to use the overview, authoring guide and architecture guide, then identify a first real use case for subsequent implementation. Sources: docs/architecture/capabilities.md; docs/README.md. Allow one minute.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0241bb2a4545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7c12d479994572" /><Relationship Type="http://schemas.openxmlformats.org/officeDocument/2006/relationships/slideLayout" Target="/ppt/slideLayouts/slideLayout1.xml" Id="Rb48fa0bdd2da42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8fa0bdd2da42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cc20d02e06470c" /><Relationship Type="http://schemas.openxmlformats.org/officeDocument/2006/relationships/notesSlide" Target="/ppt/notesSlides/notesSlide1.xml" Id="R4c1ff0983eb0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4195ce14f94d86" /><Relationship Type="http://schemas.openxmlformats.org/officeDocument/2006/relationships/notesSlide" Target="/ppt/notesSlides/notesSlide2.xml" Id="R4a83d2e0edc04d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56b95e5b524cdf" /><Relationship Type="http://schemas.openxmlformats.org/officeDocument/2006/relationships/notesSlide" Target="/ppt/notesSlides/notesSlide3.xml" Id="R9f527ac8180041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7715c78dd74d0f" /><Relationship Type="http://schemas.openxmlformats.org/officeDocument/2006/relationships/notesSlide" Target="/ppt/notesSlides/notesSlide4.xml" Id="Rbc2698370a8049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96094749ad4b92" /><Relationship Type="http://schemas.openxmlformats.org/officeDocument/2006/relationships/notesSlide" Target="/ppt/notesSlides/notesSlide5.xml" Id="R6206067353a549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9d46d1ac864c60" /><Relationship Type="http://schemas.openxmlformats.org/officeDocument/2006/relationships/notesSlide" Target="/ppt/notesSlides/notesSlide6.xml" Id="R35eb9953436c46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cd78adc998452d" /><Relationship Type="http://schemas.openxmlformats.org/officeDocument/2006/relationships/notesSlide" Target="/ppt/notesSlides/notesSlide7.xml" Id="R586e11d690f546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16ab9410b4418a" /><Relationship Type="http://schemas.openxmlformats.org/officeDocument/2006/relationships/notesSlide" Target="/ppt/notesSlides/notesSlide8.xml" Id="R1784b442515e44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1339DA-6C6B-4779-9E8C-8F529D758311}"/>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IdM Test Framework</a:t>
            </a:r>
          </a:p>
        </p:txBody>
      </p:sp>
      <p:sp>
        <p:nvSpPr>
          <p:cNvPr id="2" name="">
            <a:extLst xmlns:a="http://schemas.openxmlformats.org/drawingml/2006/main">
              <a:ext uri="{FF2B5EF4-FFF2-40B4-BE49-F238E27FC236}">
                <a16:creationId xmlns:a16="http://schemas.microsoft.com/office/drawing/2014/main" id="{620681A2-F6DA-4219-97A0-04806BE1A77A}"/>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C21DAB98-82C3-4046-A0D3-CCD297C8C3E3}"/>
              </a:ext>
            </a:extLst>
          </p:cNvPr>
          <p:cNvSpPr>
            <a:spLocks xmlns:a="http://schemas.openxmlformats.org/drawingml/2006/main" noGrp="1"/>
          </p:cNvSpPr>
          <p:nvPr/>
        </p:nvSpPr>
        <p:spPr>
          <a:xfrm xmlns:a="http://schemas.openxmlformats.org/drawingml/2006/main">
            <a:off x="609600" y="2000250"/>
            <a:ext cx="1057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83047"/>
                </a:solidFill>
                <a:latin typeface="Helvetica Neue"/>
                <a:ea typeface="Helvetica Neue"/>
                <a:cs typeface="Helvetica Neue"/>
              </a:defRPr>
            </a:pPr>
            <a:r>
              <a:rPr sz="3600" b="0">
                <a:solidFill>
                  <a:srgbClr val="183047"/>
                </a:solidFill>
                <a:latin typeface="Helvetica Neue"/>
                <a:ea typeface="Helvetica Neue"/>
                <a:cs typeface="Helvetica Neue"/>
              </a:rPr>
              <a:t>Testing identity workflows</a:t>
            </a:r>
          </a:p>
          <a:p xmlns:a="http://schemas.openxmlformats.org/drawingml/2006/main">
            <a:pPr>
              <a:defRPr sz="3600" b="0">
                <a:solidFill>
                  <a:srgbClr val="183047"/>
                </a:solidFill>
                <a:latin typeface="Helvetica Neue"/>
                <a:ea typeface="Helvetica Neue"/>
                <a:cs typeface="Helvetica Neue"/>
              </a:defRPr>
            </a:pPr>
            <a:r>
              <a:rPr sz="3600" b="0">
                <a:solidFill>
                  <a:srgbClr val="183047"/>
                </a:solidFill>
                <a:latin typeface="Helvetica Neue"/>
                <a:ea typeface="Helvetica Neue"/>
                <a:cs typeface="Helvetica Neue"/>
              </a:rPr>
              <a:t>across directories, databases and APIs</a:t>
            </a:r>
          </a:p>
        </p:txBody>
      </p:sp>
      <p:sp>
        <p:nvSpPr>
          <p:cNvPr id="4" name="">
            <a:extLst xmlns:a="http://schemas.openxmlformats.org/drawingml/2006/main">
              <a:ext uri="{FF2B5EF4-FFF2-40B4-BE49-F238E27FC236}">
                <a16:creationId xmlns:a16="http://schemas.microsoft.com/office/drawing/2014/main" id="{CC97894C-0D1F-4926-8E06-117485E05F5C}"/>
              </a:ext>
            </a:extLst>
          </p:cNvPr>
          <p:cNvSpPr>
            <a:spLocks xmlns:a="http://schemas.openxmlformats.org/drawingml/2006/main" noGrp="1"/>
          </p:cNvSpPr>
          <p:nvPr/>
        </p:nvSpPr>
        <p:spPr>
          <a:xfrm xmlns:a="http://schemas.openxmlformats.org/drawingml/2006/main">
            <a:off x="609600" y="4362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778"/>
                </a:solidFill>
                <a:latin typeface="Helvetica Neue"/>
                <a:ea typeface="Helvetica Neue"/>
                <a:cs typeface="Helvetica Neue"/>
              </a:defRPr>
            </a:pPr>
            <a:r>
              <a:rPr sz="2100" b="0">
                <a:solidFill>
                  <a:srgbClr val="526778"/>
                </a:solidFill>
                <a:latin typeface="Helvetica Neue"/>
                <a:ea typeface="Helvetica Neue"/>
                <a:cs typeface="Helvetica Neue"/>
              </a:rPr>
              <a:t>YAML scenarios and Java tests with shared connectors</a:t>
            </a:r>
          </a:p>
        </p:txBody>
      </p:sp>
      <p:sp>
        <p:nvSpPr>
          <p:cNvPr id="5" name="">
            <a:extLst xmlns:a="http://schemas.openxmlformats.org/drawingml/2006/main">
              <a:ext uri="{FF2B5EF4-FFF2-40B4-BE49-F238E27FC236}">
                <a16:creationId xmlns:a16="http://schemas.microsoft.com/office/drawing/2014/main" id="{CCA24BDA-58B9-4A2B-BBEC-FCFD31EDD352}"/>
              </a:ext>
            </a:extLst>
          </p:cNvPr>
          <p:cNvSpPr>
            <a:spLocks xmlns:a="http://schemas.openxmlformats.org/drawingml/2006/main" noGrp="1"/>
          </p:cNvSpPr>
          <p:nvPr/>
        </p:nvSpPr>
        <p:spPr>
          <a:xfrm xmlns:a="http://schemas.openxmlformats.org/drawingml/2006/main">
            <a:off x="609600" y="5810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8"/>
                </a:solidFill>
                <a:latin typeface="Helvetica Neue"/>
                <a:ea typeface="Helvetica Neue"/>
                <a:cs typeface="Helvetica Neue"/>
              </a:defRPr>
            </a:pPr>
            <a:r>
              <a:rPr sz="1650" b="0">
                <a:solidFill>
                  <a:srgbClr val="526778"/>
                </a:solidFill>
                <a:latin typeface="Helvetica Neue"/>
                <a:ea typeface="Helvetica Neue"/>
                <a:cs typeface="Helvetica Neue"/>
              </a:rPr>
              <a:t>Coworker introduction  ·  15 September 2026</a:t>
            </a:r>
          </a:p>
        </p:txBody>
      </p:sp>
    </p:spTree>
    <p:extLst>
      <p:ext uri="{BB962C8B-B14F-4D97-AF65-F5344CB8AC3E}">
        <p14:creationId xmlns:p14="http://schemas.microsoft.com/office/powerpoint/2010/main" val="4991074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1B92C1-6218-4428-AB54-F720E8ABFAE8}"/>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Two ways to author a test</a:t>
            </a:r>
          </a:p>
        </p:txBody>
      </p:sp>
      <p:sp>
        <p:nvSpPr>
          <p:cNvPr id="2" name="">
            <a:extLst xmlns:a="http://schemas.openxmlformats.org/drawingml/2006/main">
              <a:ext uri="{FF2B5EF4-FFF2-40B4-BE49-F238E27FC236}">
                <a16:creationId xmlns:a16="http://schemas.microsoft.com/office/drawing/2014/main" id="{2A2AFF64-3654-45B9-A1D5-E320A58C0C15}"/>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A3886A81-8415-4FEC-9314-8116F9C03F66}"/>
              </a:ext>
            </a:extLst>
          </p:cNvPr>
          <p:cNvSpPr>
            <a:spLocks xmlns:a="http://schemas.openxmlformats.org/drawingml/2006/main" noGrp="1"/>
          </p:cNvSpPr>
          <p:nvPr/>
        </p:nvSpPr>
        <p:spPr>
          <a:xfrm xmlns:a="http://schemas.openxmlformats.org/drawingml/2006/main">
            <a:off x="609600" y="16192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D86"/>
                </a:solidFill>
                <a:latin typeface="Helvetica Neue"/>
                <a:ea typeface="Helvetica Neue"/>
                <a:cs typeface="Helvetica Neue"/>
              </a:defRPr>
            </a:pPr>
            <a:r>
              <a:rPr sz="2700" b="1">
                <a:solidFill>
                  <a:srgbClr val="147D86"/>
                </a:solidFill>
                <a:latin typeface="Helvetica Neue"/>
                <a:ea typeface="Helvetica Neue"/>
                <a:cs typeface="Helvetica Neue"/>
              </a:rPr>
              <a:t>YAML</a:t>
            </a:r>
          </a:p>
        </p:txBody>
      </p:sp>
      <p:sp>
        <p:nvSpPr>
          <p:cNvPr id="4" name="">
            <a:extLst xmlns:a="http://schemas.openxmlformats.org/drawingml/2006/main">
              <a:ext uri="{FF2B5EF4-FFF2-40B4-BE49-F238E27FC236}">
                <a16:creationId xmlns:a16="http://schemas.microsoft.com/office/drawing/2014/main" id="{637E741B-8B63-405B-A3C0-116262BB3CBC}"/>
              </a:ext>
            </a:extLst>
          </p:cNvPr>
          <p:cNvSpPr>
            <a:spLocks xmlns:a="http://schemas.openxmlformats.org/drawingml/2006/main" noGrp="1"/>
          </p:cNvSpPr>
          <p:nvPr/>
        </p:nvSpPr>
        <p:spPr>
          <a:xfrm xmlns:a="http://schemas.openxmlformats.org/drawingml/2006/main">
            <a:off x="609600" y="242887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For consultants and test authors</a:t>
            </a:r>
          </a:p>
          <a:p xmlns:a="http://schemas.openxmlformats.org/drawingml/2006/main">
            <a:r>
              <a:t/>
            </a:r>
          </a:p>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Fixtures, ordered steps and assertions</a:t>
            </a:r>
          </a:p>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Computed values and result captures</a:t>
            </a:r>
          </a:p>
        </p:txBody>
      </p:sp>
      <p:sp>
        <p:nvSpPr>
          <p:cNvPr id="5" name="">
            <a:extLst xmlns:a="http://schemas.openxmlformats.org/drawingml/2006/main">
              <a:ext uri="{FF2B5EF4-FFF2-40B4-BE49-F238E27FC236}">
                <a16:creationId xmlns:a16="http://schemas.microsoft.com/office/drawing/2014/main" id="{E3A648EC-64DD-4F89-9F56-480B685B16F9}"/>
              </a:ext>
            </a:extLst>
          </p:cNvPr>
          <p:cNvSpPr>
            <a:spLocks xmlns:a="http://schemas.openxmlformats.org/drawingml/2006/main" noGrp="1"/>
          </p:cNvSpPr>
          <p:nvPr/>
        </p:nvSpPr>
        <p:spPr>
          <a:xfrm xmlns:a="http://schemas.openxmlformats.org/drawingml/2006/main">
            <a:off x="6572250" y="161925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D86"/>
                </a:solidFill>
                <a:latin typeface="Helvetica Neue"/>
                <a:ea typeface="Helvetica Neue"/>
                <a:cs typeface="Helvetica Neue"/>
              </a:defRPr>
            </a:pPr>
            <a:r>
              <a:rPr sz="2700" b="1">
                <a:solidFill>
                  <a:srgbClr val="147D86"/>
                </a:solidFill>
                <a:latin typeface="Helvetica Neue"/>
                <a:ea typeface="Helvetica Neue"/>
                <a:cs typeface="Helvetica Neue"/>
              </a:rPr>
              <a:t>Java / JUnit</a:t>
            </a:r>
          </a:p>
        </p:txBody>
      </p:sp>
      <p:sp>
        <p:nvSpPr>
          <p:cNvPr id="6" name="">
            <a:extLst xmlns:a="http://schemas.openxmlformats.org/drawingml/2006/main">
              <a:ext uri="{FF2B5EF4-FFF2-40B4-BE49-F238E27FC236}">
                <a16:creationId xmlns:a16="http://schemas.microsoft.com/office/drawing/2014/main" id="{5DBF14C4-C4F8-4912-9BA3-37FA1C87BE18}"/>
              </a:ext>
            </a:extLst>
          </p:cNvPr>
          <p:cNvSpPr>
            <a:spLocks xmlns:a="http://schemas.openxmlformats.org/drawingml/2006/main" noGrp="1"/>
          </p:cNvSpPr>
          <p:nvPr/>
        </p:nvSpPr>
        <p:spPr>
          <a:xfrm xmlns:a="http://schemas.openxmlformats.org/drawingml/2006/main">
            <a:off x="6572250" y="2428875"/>
            <a:ext cx="4953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For developers</a:t>
            </a:r>
          </a:p>
          <a:p xmlns:a="http://schemas.openxmlformats.org/drawingml/2006/main">
            <a:r>
              <a:t/>
            </a:r>
          </a:p>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Direct connector calls</a:t>
            </a:r>
          </a:p>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Broader operations and control flow</a:t>
            </a:r>
          </a:p>
        </p:txBody>
      </p:sp>
      <p:sp>
        <p:nvSpPr>
          <p:cNvPr id="7" name="">
            <a:extLst xmlns:a="http://schemas.openxmlformats.org/drawingml/2006/main">
              <a:ext uri="{FF2B5EF4-FFF2-40B4-BE49-F238E27FC236}">
                <a16:creationId xmlns:a16="http://schemas.microsoft.com/office/drawing/2014/main" id="{91793324-315F-4C1E-8A43-C480499158CA}"/>
              </a:ext>
            </a:extLst>
          </p:cNvPr>
          <p:cNvSpPr>
            <a:spLocks xmlns:a="http://schemas.openxmlformats.org/drawingml/2006/main" noGrp="1"/>
          </p:cNvSpPr>
          <p:nvPr/>
        </p:nvSpPr>
        <p:spPr>
          <a:xfrm xmlns:a="http://schemas.openxmlformats.org/drawingml/2006/main">
            <a:off x="609600" y="5591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B5D"/>
                </a:solidFill>
                <a:latin typeface="Helvetica Neue"/>
                <a:ea typeface="Helvetica Neue"/>
                <a:cs typeface="Helvetica Neue"/>
              </a:defRPr>
            </a:pPr>
            <a:r>
              <a:rPr sz="2250" b="1">
                <a:solidFill>
                  <a:srgbClr val="123B5D"/>
                </a:solidFill>
                <a:latin typeface="Helvetica Neue"/>
                <a:ea typeface="Helvetica Neue"/>
                <a:cs typeface="Helvetica Neue"/>
              </a:rPr>
              <a:t>Both paths use the same connector implementations.</a:t>
            </a:r>
          </a:p>
        </p:txBody>
      </p:sp>
    </p:spTree>
    <p:extLst>
      <p:ext uri="{BB962C8B-B14F-4D97-AF65-F5344CB8AC3E}">
        <p14:creationId xmlns:p14="http://schemas.microsoft.com/office/powerpoint/2010/main" val="12994489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FB5C91A-0517-4AB6-A4F4-7C78F1816668}"/>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System context</a:t>
            </a:r>
          </a:p>
        </p:txBody>
      </p:sp>
      <p:sp>
        <p:nvSpPr>
          <p:cNvPr id="2" name="">
            <a:extLst xmlns:a="http://schemas.openxmlformats.org/drawingml/2006/main">
              <a:ext uri="{FF2B5EF4-FFF2-40B4-BE49-F238E27FC236}">
                <a16:creationId xmlns:a16="http://schemas.microsoft.com/office/drawing/2014/main" id="{DF818FEA-C669-462D-8E1E-5AC5D640AFF0}"/>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56A75681-1CCF-4585-AB07-6B9B2E8BC3C4}"/>
              </a:ext>
            </a:extLst>
          </p:cNvPr>
          <p:cNvSpPr>
            <a:spLocks xmlns:a="http://schemas.openxmlformats.org/drawingml/2006/main" noGrp="1"/>
          </p:cNvSpPr>
          <p:nvPr/>
        </p:nvSpPr>
        <p:spPr>
          <a:xfrm xmlns:a="http://schemas.openxmlformats.org/drawingml/2006/main">
            <a:off x="609600" y="2819400"/>
            <a:ext cx="2457450" cy="1162050"/>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Consultants / developers</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[Person]</a:t>
            </a:r>
          </a:p>
        </p:txBody>
      </p:sp>
      <p:sp>
        <p:nvSpPr>
          <p:cNvPr id="4" name="">
            <a:extLst xmlns:a="http://schemas.openxmlformats.org/drawingml/2006/main">
              <a:ext uri="{FF2B5EF4-FFF2-40B4-BE49-F238E27FC236}">
                <a16:creationId xmlns:a16="http://schemas.microsoft.com/office/drawing/2014/main" id="{1BFBB68F-B265-40C8-9032-E21CA51BF9D6}"/>
              </a:ext>
            </a:extLst>
          </p:cNvPr>
          <p:cNvSpPr>
            <a:spLocks xmlns:a="http://schemas.openxmlformats.org/drawingml/2006/main" noGrp="1"/>
          </p:cNvSpPr>
          <p:nvPr/>
        </p:nvSpPr>
        <p:spPr>
          <a:xfrm xmlns:a="http://schemas.openxmlformats.org/drawingml/2006/main">
            <a:off x="4095750" y="2819400"/>
            <a:ext cx="2857500" cy="1162050"/>
          </a:xfrm>
          <a:prstGeom xmlns:a="http://schemas.openxmlformats.org/drawingml/2006/main" prst="rect">
            <a:avLst/>
          </a:prstGeom>
          <a:solidFill xmlns:a="http://schemas.openxmlformats.org/drawingml/2006/main">
            <a:srgbClr val="123B5D"/>
          </a:solidFill>
          <a:ln xmlns:a="http://schemas.openxmlformats.org/drawingml/2006/main" w="9525">
            <a:solidFill>
              <a:srgbClr val="123B5D"/>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IdM Test Framework</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[Software system]</a:t>
            </a:r>
          </a:p>
        </p:txBody>
      </p:sp>
      <p:sp>
        <p:nvSpPr>
          <p:cNvPr id="5" name="">
            <a:extLst xmlns:a="http://schemas.openxmlformats.org/drawingml/2006/main">
              <a:ext uri="{FF2B5EF4-FFF2-40B4-BE49-F238E27FC236}">
                <a16:creationId xmlns:a16="http://schemas.microsoft.com/office/drawing/2014/main" id="{9EB605A7-D957-472A-8011-2431FB7063AA}"/>
              </a:ext>
            </a:extLst>
          </p:cNvPr>
          <p:cNvSpPr>
            <a:spLocks xmlns:a="http://schemas.openxmlformats.org/drawingml/2006/main" noGrp="1"/>
          </p:cNvSpPr>
          <p:nvPr/>
        </p:nvSpPr>
        <p:spPr>
          <a:xfrm xmlns:a="http://schemas.openxmlformats.org/drawingml/2006/main">
            <a:off x="8858250" y="1476375"/>
            <a:ext cx="2714625" cy="1000125"/>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Identity Manager</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[External system]</a:t>
            </a:r>
          </a:p>
        </p:txBody>
      </p:sp>
      <p:sp>
        <p:nvSpPr>
          <p:cNvPr id="6" name="">
            <a:extLst xmlns:a="http://schemas.openxmlformats.org/drawingml/2006/main">
              <a:ext uri="{FF2B5EF4-FFF2-40B4-BE49-F238E27FC236}">
                <a16:creationId xmlns:a16="http://schemas.microsoft.com/office/drawing/2014/main" id="{DAE0C579-1587-4A76-A5BC-80E0E10F6079}"/>
              </a:ext>
            </a:extLst>
          </p:cNvPr>
          <p:cNvSpPr>
            <a:spLocks xmlns:a="http://schemas.openxmlformats.org/drawingml/2006/main" noGrp="1"/>
          </p:cNvSpPr>
          <p:nvPr/>
        </p:nvSpPr>
        <p:spPr>
          <a:xfrm xmlns:a="http://schemas.openxmlformats.org/drawingml/2006/main">
            <a:off x="8858250" y="3143250"/>
            <a:ext cx="2714625" cy="1000125"/>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Directory</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[External system]</a:t>
            </a:r>
          </a:p>
        </p:txBody>
      </p:sp>
      <p:sp>
        <p:nvSpPr>
          <p:cNvPr id="7" name="">
            <a:extLst xmlns:a="http://schemas.openxmlformats.org/drawingml/2006/main">
              <a:ext uri="{FF2B5EF4-FFF2-40B4-BE49-F238E27FC236}">
                <a16:creationId xmlns:a16="http://schemas.microsoft.com/office/drawing/2014/main" id="{14C959A4-5867-4CDA-8D2F-4434667AA98E}"/>
              </a:ext>
            </a:extLst>
          </p:cNvPr>
          <p:cNvSpPr>
            <a:spLocks xmlns:a="http://schemas.openxmlformats.org/drawingml/2006/main" noGrp="1"/>
          </p:cNvSpPr>
          <p:nvPr/>
        </p:nvSpPr>
        <p:spPr>
          <a:xfrm xmlns:a="http://schemas.openxmlformats.org/drawingml/2006/main">
            <a:off x="8858250" y="4810125"/>
            <a:ext cx="2714625" cy="1000125"/>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Databases / APIs</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[External systems]</a:t>
            </a:r>
          </a:p>
        </p:txBody>
      </p: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3067050" y="3400425"/>
            <a:ext cx="1028700"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flipV="1">
            <a:off x="6953250" y="1976438"/>
            <a:ext cx="1905000" cy="1423988"/>
          </a:xfrm>
          <a:prstGeom xmlns:a="http://schemas.openxmlformats.org/drawingml/2006/main" prst="straightConnector1">
            <a:avLst/>
          </a:prstGeom>
          <a:ln xmlns:a="http://schemas.openxmlformats.org/drawingml/2006/main" w="19050">
            <a:solidFill>
              <a:srgbClr val="607887"/>
            </a:solidFill>
            <a:prstDash val="dash"/>
            <a:tailEnd type="arrow" w="med" len="med"/>
          </a:ln>
        </p:spPr>
      </p:cxnSp>
      <p:cxnSp>
        <p:nvCxnSpPr>
          <p:cNvPr id="26" name=""/>
          <p:cNvCxnSpPr>
            <a:stCxn xmlns:a="http://schemas.openxmlformats.org/drawingml/2006/main" id="4" idx="3"/>
            <a:endCxn xmlns:a="http://schemas.openxmlformats.org/drawingml/2006/main" id="6" idx="1"/>
          </p:cNvCxnSpPr>
          <p:nvPr/>
        </p:nvCxnSpPr>
        <p:spPr>
          <a:xfrm xmlns:a="http://schemas.openxmlformats.org/drawingml/2006/main">
            <a:off x="6953250" y="3400425"/>
            <a:ext cx="1905000" cy="242888"/>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cxnSp>
        <p:nvCxnSpPr>
          <p:cNvPr id="27" name=""/>
          <p:cNvCxnSpPr>
            <a:stCxn xmlns:a="http://schemas.openxmlformats.org/drawingml/2006/main" id="4" idx="3"/>
            <a:endCxn xmlns:a="http://schemas.openxmlformats.org/drawingml/2006/main" id="7" idx="1"/>
          </p:cNvCxnSpPr>
          <p:nvPr/>
        </p:nvCxnSpPr>
        <p:spPr>
          <a:xfrm xmlns:a="http://schemas.openxmlformats.org/drawingml/2006/main">
            <a:off x="6953250" y="3400425"/>
            <a:ext cx="1905000" cy="1909763"/>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12" name="">
            <a:extLst xmlns:a="http://schemas.openxmlformats.org/drawingml/2006/main">
              <a:ext uri="{FF2B5EF4-FFF2-40B4-BE49-F238E27FC236}">
                <a16:creationId xmlns:a16="http://schemas.microsoft.com/office/drawing/2014/main" id="{102F803A-0C58-4E3A-8D3A-64E4401B7621}"/>
              </a:ext>
            </a:extLst>
          </p:cNvPr>
          <p:cNvSpPr>
            <a:spLocks xmlns:a="http://schemas.openxmlformats.org/drawingml/2006/main" noGrp="1"/>
          </p:cNvSpPr>
          <p:nvPr/>
        </p:nvSpPr>
        <p:spPr>
          <a:xfrm xmlns:a="http://schemas.openxmlformats.org/drawingml/2006/main">
            <a:off x="3143250" y="2457450"/>
            <a:ext cx="123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8"/>
                </a:solidFill>
                <a:latin typeface="Helvetica Neue"/>
                <a:ea typeface="Helvetica Neue"/>
                <a:cs typeface="Helvetica Neue"/>
              </a:defRPr>
            </a:pPr>
            <a:r>
              <a:rPr sz="1425" b="0">
                <a:solidFill>
                  <a:srgbClr val="526778"/>
                </a:solidFill>
                <a:latin typeface="Helvetica Neue"/>
                <a:ea typeface="Helvetica Neue"/>
                <a:cs typeface="Helvetica Neue"/>
              </a:rPr>
              <a:t>YAML / Java</a:t>
            </a:r>
          </a:p>
        </p:txBody>
      </p:sp>
      <p:sp>
        <p:nvSpPr>
          <p:cNvPr id="13" name="">
            <a:extLst xmlns:a="http://schemas.openxmlformats.org/drawingml/2006/main">
              <a:ext uri="{FF2B5EF4-FFF2-40B4-BE49-F238E27FC236}">
                <a16:creationId xmlns:a16="http://schemas.microsoft.com/office/drawing/2014/main" id="{E2B0B188-A257-4811-9364-90BB4F87A130}"/>
              </a:ext>
            </a:extLst>
          </p:cNvPr>
          <p:cNvSpPr>
            <a:spLocks xmlns:a="http://schemas.openxmlformats.org/drawingml/2006/main" noGrp="1"/>
          </p:cNvSpPr>
          <p:nvPr/>
        </p:nvSpPr>
        <p:spPr>
          <a:xfrm xmlns:a="http://schemas.openxmlformats.org/drawingml/2006/main">
            <a:off x="7067550" y="1695450"/>
            <a:ext cx="1762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778"/>
                </a:solidFill>
                <a:latin typeface="Helvetica Neue"/>
                <a:ea typeface="Helvetica Neue"/>
                <a:cs typeface="Helvetica Neue"/>
              </a:defRPr>
            </a:pPr>
            <a:r>
              <a:rPr sz="1500" b="0">
                <a:solidFill>
                  <a:srgbClr val="526778"/>
                </a:solidFill>
                <a:latin typeface="Helvetica Neue"/>
                <a:ea typeface="Helvetica Neue"/>
                <a:cs typeface="Helvetica Neue"/>
              </a:rPr>
              <a:t>REST / SOAP</a:t>
            </a:r>
          </a:p>
          <a:p xmlns:a="http://schemas.openxmlformats.org/drawingml/2006/main">
            <a:pPr>
              <a:defRPr sz="1500" b="0">
                <a:solidFill>
                  <a:srgbClr val="526778"/>
                </a:solidFill>
                <a:latin typeface="Helvetica Neue"/>
                <a:ea typeface="Helvetica Neue"/>
                <a:cs typeface="Helvetica Neue"/>
              </a:defRPr>
            </a:pPr>
            <a:r>
              <a:rPr sz="1500" b="0">
                <a:solidFill>
                  <a:srgbClr val="526778"/>
                </a:solidFill>
                <a:latin typeface="Helvetica Neue"/>
                <a:ea typeface="Helvetica Neue"/>
                <a:cs typeface="Helvetica Neue"/>
              </a:rPr>
              <a:t>target integration</a:t>
            </a:r>
          </a:p>
        </p:txBody>
      </p:sp>
      <p:sp>
        <p:nvSpPr>
          <p:cNvPr id="14" name="">
            <a:extLst xmlns:a="http://schemas.openxmlformats.org/drawingml/2006/main">
              <a:ext uri="{FF2B5EF4-FFF2-40B4-BE49-F238E27FC236}">
                <a16:creationId xmlns:a16="http://schemas.microsoft.com/office/drawing/2014/main" id="{EF3756A9-6998-499A-9611-F702C960E964}"/>
              </a:ext>
            </a:extLst>
          </p:cNvPr>
          <p:cNvSpPr>
            <a:spLocks xmlns:a="http://schemas.openxmlformats.org/drawingml/2006/main" noGrp="1"/>
          </p:cNvSpPr>
          <p:nvPr/>
        </p:nvSpPr>
        <p:spPr>
          <a:xfrm xmlns:a="http://schemas.openxmlformats.org/drawingml/2006/main">
            <a:off x="7200900" y="31718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8"/>
                </a:solidFill>
                <a:latin typeface="Helvetica Neue"/>
                <a:ea typeface="Helvetica Neue"/>
                <a:cs typeface="Helvetica Neue"/>
              </a:defRPr>
            </a:pPr>
            <a:r>
              <a:rPr sz="1650" b="0">
                <a:solidFill>
                  <a:srgbClr val="526778"/>
                </a:solidFill>
                <a:latin typeface="Helvetica Neue"/>
                <a:ea typeface="Helvetica Neue"/>
                <a:cs typeface="Helvetica Neue"/>
              </a:rPr>
              <a:t>LDAP</a:t>
            </a:r>
          </a:p>
        </p:txBody>
      </p:sp>
      <p:sp>
        <p:nvSpPr>
          <p:cNvPr id="15" name="">
            <a:extLst xmlns:a="http://schemas.openxmlformats.org/drawingml/2006/main">
              <a:ext uri="{FF2B5EF4-FFF2-40B4-BE49-F238E27FC236}">
                <a16:creationId xmlns:a16="http://schemas.microsoft.com/office/drawing/2014/main" id="{CD6D6A98-EC86-4CD8-98AF-AC6CC8CA205C}"/>
              </a:ext>
            </a:extLst>
          </p:cNvPr>
          <p:cNvSpPr>
            <a:spLocks xmlns:a="http://schemas.openxmlformats.org/drawingml/2006/main" noGrp="1"/>
          </p:cNvSpPr>
          <p:nvPr/>
        </p:nvSpPr>
        <p:spPr>
          <a:xfrm xmlns:a="http://schemas.openxmlformats.org/drawingml/2006/main">
            <a:off x="7096125" y="5143500"/>
            <a:ext cx="171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778"/>
                </a:solidFill>
                <a:latin typeface="Helvetica Neue"/>
                <a:ea typeface="Helvetica Neue"/>
                <a:cs typeface="Helvetica Neue"/>
              </a:defRPr>
            </a:pPr>
            <a:r>
              <a:rPr sz="1500" b="0">
                <a:solidFill>
                  <a:srgbClr val="526778"/>
                </a:solidFill>
                <a:latin typeface="Helvetica Neue"/>
                <a:ea typeface="Helvetica Neue"/>
                <a:cs typeface="Helvetica Neue"/>
              </a:rPr>
              <a:t>JDBC / HTTP</a:t>
            </a:r>
          </a:p>
          <a:p xmlns:a="http://schemas.openxmlformats.org/drawingml/2006/main">
            <a:pPr>
              <a:defRPr sz="1500" b="0">
                <a:solidFill>
                  <a:srgbClr val="526778"/>
                </a:solidFill>
                <a:latin typeface="Helvetica Neue"/>
                <a:ea typeface="Helvetica Neue"/>
                <a:cs typeface="Helvetica Neue"/>
              </a:defRPr>
            </a:pPr>
            <a:r>
              <a:rPr sz="1500" b="0">
                <a:solidFill>
                  <a:srgbClr val="526778"/>
                </a:solidFill>
                <a:latin typeface="Helvetica Neue"/>
                <a:ea typeface="Helvetica Neue"/>
                <a:cs typeface="Helvetica Neue"/>
              </a:rPr>
              <a:t>Java operations</a:t>
            </a:r>
          </a:p>
        </p:txBody>
      </p:sp>
      <p:sp>
        <p:nvSpPr>
          <p:cNvPr id="16" name="">
            <a:extLst xmlns:a="http://schemas.openxmlformats.org/drawingml/2006/main">
              <a:ext uri="{FF2B5EF4-FFF2-40B4-BE49-F238E27FC236}">
                <a16:creationId xmlns:a16="http://schemas.microsoft.com/office/drawing/2014/main" id="{260F51CF-4722-4604-81D6-317860BE97C3}"/>
              </a:ext>
            </a:extLst>
          </p:cNvPr>
          <p:cNvSpPr>
            <a:spLocks xmlns:a="http://schemas.openxmlformats.org/drawingml/2006/main" noGrp="1"/>
          </p:cNvSpPr>
          <p:nvPr/>
        </p:nvSpPr>
        <p:spPr>
          <a:xfrm xmlns:a="http://schemas.openxmlformats.org/drawingml/2006/main">
            <a:off x="609600" y="5981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8"/>
                </a:solidFill>
                <a:latin typeface="Helvetica Neue"/>
                <a:ea typeface="Helvetica Neue"/>
                <a:cs typeface="Helvetica Neue"/>
              </a:defRPr>
            </a:pPr>
            <a:r>
              <a:rPr sz="1725" b="0">
                <a:solidFill>
                  <a:srgbClr val="526778"/>
                </a:solidFill>
                <a:latin typeface="Helvetica Neue"/>
                <a:ea typeface="Helvetica Neue"/>
                <a:cs typeface="Helvetica Neue"/>
              </a:rPr>
              <a:t>Dashed: real IdM integration target; the local suite uses embedded fixtures.</a:t>
            </a:r>
          </a:p>
        </p:txBody>
      </p:sp>
    </p:spTree>
    <p:extLst>
      <p:ext uri="{BB962C8B-B14F-4D97-AF65-F5344CB8AC3E}">
        <p14:creationId xmlns:p14="http://schemas.microsoft.com/office/powerpoint/2010/main" val="10478883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A83C75-6A77-43A4-87BF-E95F61D3DA78}"/>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A YAML scenario</a:t>
            </a:r>
          </a:p>
        </p:txBody>
      </p:sp>
      <p:sp>
        <p:nvSpPr>
          <p:cNvPr id="2" name="">
            <a:extLst xmlns:a="http://schemas.openxmlformats.org/drawingml/2006/main">
              <a:ext uri="{FF2B5EF4-FFF2-40B4-BE49-F238E27FC236}">
                <a16:creationId xmlns:a16="http://schemas.microsoft.com/office/drawing/2014/main" id="{FECFAFE2-D52E-446B-8BE3-CB5B8A780AC4}"/>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84F7166D-B7C1-46C3-8169-3B02C715F15A}"/>
              </a:ext>
            </a:extLst>
          </p:cNvPr>
          <p:cNvSpPr>
            <a:spLocks xmlns:a="http://schemas.openxmlformats.org/drawingml/2006/main" noGrp="1"/>
          </p:cNvSpPr>
          <p:nvPr/>
        </p:nvSpPr>
        <p:spPr>
          <a:xfrm xmlns:a="http://schemas.openxmlformats.org/drawingml/2006/main">
            <a:off x="609600" y="1333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8"/>
                </a:solidFill>
                <a:latin typeface="Helvetica Neue"/>
                <a:ea typeface="Helvetica Neue"/>
                <a:cs typeface="Helvetica Neue"/>
              </a:defRPr>
            </a:pPr>
            <a:r>
              <a:rPr sz="1950" b="0">
                <a:solidFill>
                  <a:srgbClr val="526778"/>
                </a:solidFill>
                <a:latin typeface="Helvetica Neue"/>
                <a:ea typeface="Helvetica Neue"/>
                <a:cs typeface="Helvetica Neue"/>
              </a:rPr>
              <a:t>Excerpt from the bundled workflow</a:t>
            </a:r>
          </a:p>
        </p:txBody>
      </p:sp>
      <p:sp>
        <p:nvSpPr>
          <p:cNvPr id="4" name="">
            <a:extLst xmlns:a="http://schemas.openxmlformats.org/drawingml/2006/main">
              <a:ext uri="{FF2B5EF4-FFF2-40B4-BE49-F238E27FC236}">
                <a16:creationId xmlns:a16="http://schemas.microsoft.com/office/drawing/2014/main" id="{4631A7A2-EB12-43F0-837A-DFF6A15D6A5F}"/>
              </a:ext>
            </a:extLst>
          </p:cNvPr>
          <p:cNvSpPr>
            <a:spLocks xmlns:a="http://schemas.openxmlformats.org/drawingml/2006/main" noGrp="1"/>
          </p:cNvSpPr>
          <p:nvPr/>
        </p:nvSpPr>
        <p:spPr>
          <a:xfrm xmlns:a="http://schemas.openxmlformats.org/drawingml/2006/main">
            <a:off x="609600" y="2095500"/>
            <a:ext cx="76200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ldap.create:</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dn: "cn=${user.userId},ou=users"</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as: created</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 attributes omitted here</a:t>
            </a:r>
          </a:p>
          <a:p xmlns:a="http://schemas.openxmlformats.org/drawingml/2006/main">
            <a:r>
              <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ldap.verify:</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dn: "${created}"</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expect:</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givenName: ${user.firstName}</a:t>
            </a:r>
          </a:p>
          <a:p xmlns:a="http://schemas.openxmlformats.org/drawingml/2006/main">
            <a:pPr>
              <a:defRPr sz="1950" b="0">
                <a:solidFill>
                  <a:srgbClr val="183047"/>
                </a:solidFill>
                <a:latin typeface="Helvetica Neue"/>
                <a:ea typeface="Helvetica Neue"/>
                <a:cs typeface="Helvetica Neue"/>
              </a:defRPr>
            </a:pPr>
            <a:r>
              <a:rPr sz="1950" b="0">
                <a:solidFill>
                  <a:srgbClr val="183047"/>
                </a:solidFill>
                <a:latin typeface="Helvetica Neue"/>
                <a:ea typeface="Helvetica Neue"/>
                <a:cs typeface="Helvetica Neue"/>
              </a:rPr>
              <a:t>    wait: { timeout: 30s, poll: 2s }</a:t>
            </a:r>
          </a:p>
        </p:txBody>
      </p:sp>
      <p:sp>
        <p:nvSpPr>
          <p:cNvPr id="5" name="">
            <a:extLst xmlns:a="http://schemas.openxmlformats.org/drawingml/2006/main">
              <a:ext uri="{FF2B5EF4-FFF2-40B4-BE49-F238E27FC236}">
                <a16:creationId xmlns:a16="http://schemas.microsoft.com/office/drawing/2014/main" id="{26EA6835-FEE9-4B3E-9CE8-AF2743635130}"/>
              </a:ext>
            </a:extLst>
          </p:cNvPr>
          <p:cNvSpPr>
            <a:spLocks xmlns:a="http://schemas.openxmlformats.org/drawingml/2006/main" noGrp="1"/>
          </p:cNvSpPr>
          <p:nvPr/>
        </p:nvSpPr>
        <p:spPr>
          <a:xfrm xmlns:a="http://schemas.openxmlformats.org/drawingml/2006/main">
            <a:off x="8639175" y="2095500"/>
            <a:ext cx="2952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D86"/>
                </a:solidFill>
                <a:latin typeface="Helvetica Neue"/>
                <a:ea typeface="Helvetica Neue"/>
                <a:cs typeface="Helvetica Neue"/>
              </a:defRPr>
            </a:pPr>
            <a:r>
              <a:rPr sz="2175" b="1">
                <a:solidFill>
                  <a:srgbClr val="147D86"/>
                </a:solidFill>
                <a:latin typeface="Helvetica Neue"/>
                <a:ea typeface="Helvetica Neue"/>
                <a:cs typeface="Helvetica Neue"/>
              </a:rPr>
              <a:t>Create once</a:t>
            </a:r>
          </a:p>
          <a:p xmlns:a="http://schemas.openxmlformats.org/drawingml/2006/main">
            <a:r>
              <a:t/>
            </a:r>
          </a:p>
          <a:p xmlns:a="http://schemas.openxmlformats.org/drawingml/2006/main">
            <a:pPr>
              <a:defRPr sz="2175" b="1">
                <a:solidFill>
                  <a:srgbClr val="147D86"/>
                </a:solidFill>
                <a:latin typeface="Helvetica Neue"/>
                <a:ea typeface="Helvetica Neue"/>
                <a:cs typeface="Helvetica Neue"/>
              </a:defRPr>
            </a:pPr>
            <a:r>
              <a:rPr sz="2175" b="1">
                <a:solidFill>
                  <a:srgbClr val="147D86"/>
                </a:solidFill>
                <a:latin typeface="Helvetica Neue"/>
                <a:ea typeface="Helvetica Neue"/>
                <a:cs typeface="Helvetica Neue"/>
              </a:rPr>
              <a:t>Capture the DN</a:t>
            </a:r>
          </a:p>
          <a:p xmlns:a="http://schemas.openxmlformats.org/drawingml/2006/main">
            <a:r>
              <a:t/>
            </a:r>
          </a:p>
          <a:p xmlns:a="http://schemas.openxmlformats.org/drawingml/2006/main">
            <a:pPr>
              <a:defRPr sz="2175" b="1">
                <a:solidFill>
                  <a:srgbClr val="147D86"/>
                </a:solidFill>
                <a:latin typeface="Helvetica Neue"/>
                <a:ea typeface="Helvetica Neue"/>
                <a:cs typeface="Helvetica Neue"/>
              </a:defRPr>
            </a:pPr>
            <a:r>
              <a:rPr sz="2175" b="1">
                <a:solidFill>
                  <a:srgbClr val="147D86"/>
                </a:solidFill>
                <a:latin typeface="Helvetica Neue"/>
                <a:ea typeface="Helvetica Neue"/>
                <a:cs typeface="Helvetica Neue"/>
              </a:rPr>
              <a:t>Retry the assertion</a:t>
            </a:r>
          </a:p>
          <a:p xmlns:a="http://schemas.openxmlformats.org/drawingml/2006/main">
            <a:r>
              <a:t/>
            </a:r>
          </a:p>
          <a:p xmlns:a="http://schemas.openxmlformats.org/drawingml/2006/main">
            <a:pPr>
              <a:defRPr sz="2175" b="1">
                <a:solidFill>
                  <a:srgbClr val="147D86"/>
                </a:solidFill>
                <a:latin typeface="Helvetica Neue"/>
                <a:ea typeface="Helvetica Neue"/>
                <a:cs typeface="Helvetica Neue"/>
              </a:defRPr>
            </a:pPr>
            <a:r>
              <a:rPr sz="2175" b="1">
                <a:solidFill>
                  <a:srgbClr val="147D86"/>
                </a:solidFill>
                <a:latin typeface="Helvetica Neue"/>
                <a:ea typeface="Helvetica Neue"/>
                <a:cs typeface="Helvetica Neue"/>
              </a:rPr>
              <a:t>Attempt cleanup</a:t>
            </a:r>
          </a:p>
        </p:txBody>
      </p:sp>
    </p:spTree>
    <p:extLst>
      <p:ext uri="{BB962C8B-B14F-4D97-AF65-F5344CB8AC3E}">
        <p14:creationId xmlns:p14="http://schemas.microsoft.com/office/powerpoint/2010/main" val="8576976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86E7BF7-C1A7-4C2A-9C6B-CDEEC69903F6}"/>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Architecture and shared connectors</a:t>
            </a:r>
          </a:p>
        </p:txBody>
      </p:sp>
      <p:sp>
        <p:nvSpPr>
          <p:cNvPr id="2" name="">
            <a:extLst xmlns:a="http://schemas.openxmlformats.org/drawingml/2006/main">
              <a:ext uri="{FF2B5EF4-FFF2-40B4-BE49-F238E27FC236}">
                <a16:creationId xmlns:a16="http://schemas.microsoft.com/office/drawing/2014/main" id="{4709FDBA-1FE0-499D-90A2-C593B0FAC202}"/>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5</a:t>
            </a:r>
          </a:p>
        </p:txBody>
      </p:sp>
      <p:sp>
        <p:nvSpPr>
          <p:cNvPr id="3" name="">
            <a:extLst xmlns:a="http://schemas.openxmlformats.org/drawingml/2006/main">
              <a:ext uri="{FF2B5EF4-FFF2-40B4-BE49-F238E27FC236}">
                <a16:creationId xmlns:a16="http://schemas.microsoft.com/office/drawing/2014/main" id="{F84C3855-CC86-4E06-932D-324F721BBE49}"/>
              </a:ext>
            </a:extLst>
          </p:cNvPr>
          <p:cNvSpPr>
            <a:spLocks xmlns:a="http://schemas.openxmlformats.org/drawingml/2006/main" noGrp="1"/>
          </p:cNvSpPr>
          <p:nvPr/>
        </p:nvSpPr>
        <p:spPr>
          <a:xfrm xmlns:a="http://schemas.openxmlformats.org/drawingml/2006/main">
            <a:off x="619125" y="1762125"/>
            <a:ext cx="3333750" cy="809625"/>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YAML JUnit adapter</a:t>
            </a:r>
          </a:p>
        </p:txBody>
      </p:sp>
      <p:sp>
        <p:nvSpPr>
          <p:cNvPr id="4" name="">
            <a:extLst xmlns:a="http://schemas.openxmlformats.org/drawingml/2006/main">
              <a:ext uri="{FF2B5EF4-FFF2-40B4-BE49-F238E27FC236}">
                <a16:creationId xmlns:a16="http://schemas.microsoft.com/office/drawing/2014/main" id="{8BECC00A-0784-4885-A670-2C859B1D4561}"/>
              </a:ext>
            </a:extLst>
          </p:cNvPr>
          <p:cNvSpPr>
            <a:spLocks xmlns:a="http://schemas.openxmlformats.org/drawingml/2006/main" noGrp="1"/>
          </p:cNvSpPr>
          <p:nvPr/>
        </p:nvSpPr>
        <p:spPr>
          <a:xfrm xmlns:a="http://schemas.openxmlformats.org/drawingml/2006/main">
            <a:off x="7762875" y="1762125"/>
            <a:ext cx="3333750" cy="809625"/>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Java workflows</a:t>
            </a:r>
          </a:p>
        </p:txBody>
      </p:sp>
      <p:sp>
        <p:nvSpPr>
          <p:cNvPr id="5" name="">
            <a:extLst xmlns:a="http://schemas.openxmlformats.org/drawingml/2006/main">
              <a:ext uri="{FF2B5EF4-FFF2-40B4-BE49-F238E27FC236}">
                <a16:creationId xmlns:a16="http://schemas.microsoft.com/office/drawing/2014/main" id="{91578A66-E9F4-4E16-8DF4-353C27212B7E}"/>
              </a:ext>
            </a:extLst>
          </p:cNvPr>
          <p:cNvSpPr>
            <a:spLocks xmlns:a="http://schemas.openxmlformats.org/drawingml/2006/main" noGrp="1"/>
          </p:cNvSpPr>
          <p:nvPr/>
        </p:nvSpPr>
        <p:spPr>
          <a:xfrm xmlns:a="http://schemas.openxmlformats.org/drawingml/2006/main">
            <a:off x="619125" y="3381375"/>
            <a:ext cx="4762500" cy="1190625"/>
          </a:xfrm>
          <a:prstGeom xmlns:a="http://schemas.openxmlformats.org/drawingml/2006/main" prst="rect">
            <a:avLst/>
          </a:prstGeom>
          <a:solidFill xmlns:a="http://schemas.openxmlformats.org/drawingml/2006/main">
            <a:srgbClr val="123B5D"/>
          </a:solidFill>
          <a:ln xmlns:a="http://schemas.openxmlformats.org/drawingml/2006/main" w="9525">
            <a:solidFill>
              <a:srgbClr val="123B5D"/>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Engine</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Load / validate / resolve / execute</a:t>
            </a:r>
          </a:p>
        </p:txBody>
      </p:sp>
      <p:sp>
        <p:nvSpPr>
          <p:cNvPr id="6" name="">
            <a:extLst xmlns:a="http://schemas.openxmlformats.org/drawingml/2006/main">
              <a:ext uri="{FF2B5EF4-FFF2-40B4-BE49-F238E27FC236}">
                <a16:creationId xmlns:a16="http://schemas.microsoft.com/office/drawing/2014/main" id="{4F10801D-79F2-47F8-A4E8-38DDB95558B6}"/>
              </a:ext>
            </a:extLst>
          </p:cNvPr>
          <p:cNvSpPr>
            <a:spLocks xmlns:a="http://schemas.openxmlformats.org/drawingml/2006/main" noGrp="1"/>
          </p:cNvSpPr>
          <p:nvPr/>
        </p:nvSpPr>
        <p:spPr>
          <a:xfrm xmlns:a="http://schemas.openxmlformats.org/drawingml/2006/main">
            <a:off x="6858000" y="3381375"/>
            <a:ext cx="4714875" cy="1190625"/>
          </a:xfrm>
          <a:prstGeom xmlns:a="http://schemas.openxmlformats.org/drawingml/2006/main" prst="rect">
            <a:avLst/>
          </a:prstGeom>
          <a:solidFill xmlns:a="http://schemas.openxmlformats.org/drawingml/2006/main">
            <a:srgbClr val="123B5D"/>
          </a:solidFill>
          <a:ln xmlns:a="http://schemas.openxmlformats.org/drawingml/2006/main" w="9525">
            <a:solidFill>
              <a:srgbClr val="123B5D"/>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Shared connectors</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LDAP / JDBC / REST / SOAP</a:t>
            </a:r>
          </a:p>
        </p:txBody>
      </p:sp>
      <p:cxnSp>
        <p:nvCxnSpPr>
          <p:cNvPr id="19" name=""/>
          <p:cNvCxnSpPr>
            <a:stCxn xmlns:a="http://schemas.openxmlformats.org/drawingml/2006/main" id="3" idx="2"/>
            <a:endCxn xmlns:a="http://schemas.openxmlformats.org/drawingml/2006/main" id="5" idx="0"/>
          </p:cNvCxnSpPr>
          <p:nvPr/>
        </p:nvCxnSpPr>
        <p:spPr>
          <a:xfrm xmlns:a="http://schemas.openxmlformats.org/drawingml/2006/main">
            <a:off x="2286000" y="2571750"/>
            <a:ext cx="714375" cy="809625"/>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cxnSp>
        <p:nvCxnSpPr>
          <p:cNvPr id="20" name=""/>
          <p:cNvCxnSpPr>
            <a:stCxn xmlns:a="http://schemas.openxmlformats.org/drawingml/2006/main" id="4" idx="2"/>
            <a:endCxn xmlns:a="http://schemas.openxmlformats.org/drawingml/2006/main" id="6" idx="0"/>
          </p:cNvCxnSpPr>
          <p:nvPr/>
        </p:nvCxnSpPr>
        <p:spPr>
          <a:xfrm xmlns:a="http://schemas.openxmlformats.org/drawingml/2006/main" flipH="1">
            <a:off x="9215438" y="2571750"/>
            <a:ext cx="214313" cy="809625"/>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5381625" y="3976688"/>
            <a:ext cx="1476375"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10" name="">
            <a:extLst xmlns:a="http://schemas.openxmlformats.org/drawingml/2006/main">
              <a:ext uri="{FF2B5EF4-FFF2-40B4-BE49-F238E27FC236}">
                <a16:creationId xmlns:a16="http://schemas.microsoft.com/office/drawing/2014/main" id="{4BFF115B-1FE6-4D25-A66E-53B98BE7596E}"/>
              </a:ext>
            </a:extLst>
          </p:cNvPr>
          <p:cNvSpPr>
            <a:spLocks xmlns:a="http://schemas.openxmlformats.org/drawingml/2006/main" noGrp="1"/>
          </p:cNvSpPr>
          <p:nvPr/>
        </p:nvSpPr>
        <p:spPr>
          <a:xfrm xmlns:a="http://schemas.openxmlformats.org/drawingml/2006/main">
            <a:off x="5438775" y="3419475"/>
            <a:ext cx="142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8"/>
                </a:solidFill>
                <a:latin typeface="Helvetica Neue"/>
                <a:ea typeface="Helvetica Neue"/>
                <a:cs typeface="Helvetica Neue"/>
              </a:defRPr>
            </a:pPr>
            <a:r>
              <a:rPr sz="1650" b="0">
                <a:solidFill>
                  <a:srgbClr val="526778"/>
                </a:solidFill>
                <a:latin typeface="Helvetica Neue"/>
                <a:ea typeface="Helvetica Neue"/>
                <a:cs typeface="Helvetica Neue"/>
              </a:rPr>
              <a:t>LDAP steps</a:t>
            </a:r>
          </a:p>
          <a:p xmlns:a="http://schemas.openxmlformats.org/drawingml/2006/main">
            <a:pPr>
              <a:defRPr sz="1650" b="0">
                <a:solidFill>
                  <a:srgbClr val="526778"/>
                </a:solidFill>
                <a:latin typeface="Helvetica Neue"/>
                <a:ea typeface="Helvetica Neue"/>
                <a:cs typeface="Helvetica Neue"/>
              </a:defRPr>
            </a:pPr>
            <a:r>
              <a:rPr sz="1650" b="0">
                <a:solidFill>
                  <a:srgbClr val="526778"/>
                </a:solidFill>
                <a:latin typeface="Helvetica Neue"/>
                <a:ea typeface="Helvetica Neue"/>
                <a:cs typeface="Helvetica Neue"/>
              </a:rPr>
              <a:t>today</a:t>
            </a:r>
          </a:p>
        </p:txBody>
      </p:sp>
      <p:sp>
        <p:nvSpPr>
          <p:cNvPr id="11" name="">
            <a:extLst xmlns:a="http://schemas.openxmlformats.org/drawingml/2006/main">
              <a:ext uri="{FF2B5EF4-FFF2-40B4-BE49-F238E27FC236}">
                <a16:creationId xmlns:a16="http://schemas.microsoft.com/office/drawing/2014/main" id="{5559A3AA-A9D3-4382-91BB-EF32126BEBDF}"/>
              </a:ext>
            </a:extLst>
          </p:cNvPr>
          <p:cNvSpPr>
            <a:spLocks xmlns:a="http://schemas.openxmlformats.org/drawingml/2006/main" noGrp="1"/>
          </p:cNvSpPr>
          <p:nvPr/>
        </p:nvSpPr>
        <p:spPr>
          <a:xfrm xmlns:a="http://schemas.openxmlformats.org/drawingml/2006/main">
            <a:off x="619125" y="52006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Core and utilities: operation results, waiting and test data</a:t>
            </a:r>
          </a:p>
        </p:txBody>
      </p:sp>
      <p:sp>
        <p:nvSpPr>
          <p:cNvPr id="12" name="">
            <a:extLst xmlns:a="http://schemas.openxmlformats.org/drawingml/2006/main">
              <a:ext uri="{FF2B5EF4-FFF2-40B4-BE49-F238E27FC236}">
                <a16:creationId xmlns:a16="http://schemas.microsoft.com/office/drawing/2014/main" id="{80DA318D-6781-4325-9538-0545F58F4A20}"/>
              </a:ext>
            </a:extLst>
          </p:cNvPr>
          <p:cNvSpPr>
            <a:spLocks xmlns:a="http://schemas.openxmlformats.org/drawingml/2006/main" noGrp="1"/>
          </p:cNvSpPr>
          <p:nvPr/>
        </p:nvSpPr>
        <p:spPr>
          <a:xfrm xmlns:a="http://schemas.openxmlformats.org/drawingml/2006/main">
            <a:off x="619125" y="59340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8"/>
                </a:solidFill>
                <a:latin typeface="Helvetica Neue"/>
                <a:ea typeface="Helvetica Neue"/>
                <a:cs typeface="Helvetica Neue"/>
              </a:defRPr>
            </a:pPr>
            <a:r>
              <a:rPr sz="1725" b="0">
                <a:solidFill>
                  <a:srgbClr val="526778"/>
                </a:solidFill>
                <a:latin typeface="Helvetica Neue"/>
                <a:ea typeface="Helvetica Neue"/>
                <a:cs typeface="Helvetica Neue"/>
              </a:rPr>
              <a:t>Maven modules are code boundaries inside the test runtime.</a:t>
            </a:r>
          </a:p>
        </p:txBody>
      </p:sp>
    </p:spTree>
    <p:extLst>
      <p:ext uri="{BB962C8B-B14F-4D97-AF65-F5344CB8AC3E}">
        <p14:creationId xmlns:p14="http://schemas.microsoft.com/office/powerpoint/2010/main" val="10010061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9E6A95-D6B4-4DE0-AAB5-BA6C194FA6FD}"/>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Execution and failure handling</a:t>
            </a:r>
          </a:p>
        </p:txBody>
      </p:sp>
      <p:sp>
        <p:nvSpPr>
          <p:cNvPr id="2" name="">
            <a:extLst xmlns:a="http://schemas.openxmlformats.org/drawingml/2006/main">
              <a:ext uri="{FF2B5EF4-FFF2-40B4-BE49-F238E27FC236}">
                <a16:creationId xmlns:a16="http://schemas.microsoft.com/office/drawing/2014/main" id="{1763331A-1B74-4B31-9D23-636254613665}"/>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6</a:t>
            </a:r>
          </a:p>
        </p:txBody>
      </p:sp>
      <p:sp>
        <p:nvSpPr>
          <p:cNvPr id="3" name="">
            <a:extLst xmlns:a="http://schemas.openxmlformats.org/drawingml/2006/main">
              <a:ext uri="{FF2B5EF4-FFF2-40B4-BE49-F238E27FC236}">
                <a16:creationId xmlns:a16="http://schemas.microsoft.com/office/drawing/2014/main" id="{E18B73F7-BE20-4330-81C3-3693E8803A08}"/>
              </a:ext>
            </a:extLst>
          </p:cNvPr>
          <p:cNvSpPr>
            <a:spLocks xmlns:a="http://schemas.openxmlformats.org/drawingml/2006/main" noGrp="1"/>
          </p:cNvSpPr>
          <p:nvPr/>
        </p:nvSpPr>
        <p:spPr>
          <a:xfrm xmlns:a="http://schemas.openxmlformats.org/drawingml/2006/main">
            <a:off x="609600" y="2114550"/>
            <a:ext cx="1857375" cy="1162050"/>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Validate</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files</a:t>
            </a:r>
          </a:p>
        </p:txBody>
      </p:sp>
      <p:sp>
        <p:nvSpPr>
          <p:cNvPr id="4" name="">
            <a:extLst xmlns:a="http://schemas.openxmlformats.org/drawingml/2006/main">
              <a:ext uri="{FF2B5EF4-FFF2-40B4-BE49-F238E27FC236}">
                <a16:creationId xmlns:a16="http://schemas.microsoft.com/office/drawing/2014/main" id="{CA4F256F-FE60-4DA9-8599-E6BF5D410688}"/>
              </a:ext>
            </a:extLst>
          </p:cNvPr>
          <p:cNvSpPr>
            <a:spLocks xmlns:a="http://schemas.openxmlformats.org/drawingml/2006/main" noGrp="1"/>
          </p:cNvSpPr>
          <p:nvPr/>
        </p:nvSpPr>
        <p:spPr>
          <a:xfrm xmlns:a="http://schemas.openxmlformats.org/drawingml/2006/main">
            <a:off x="2895600" y="2114550"/>
            <a:ext cx="1857375" cy="1162050"/>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Prepare</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values</a:t>
            </a:r>
          </a:p>
        </p:txBody>
      </p: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2466975" y="2695575"/>
            <a:ext cx="428625"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6" name="">
            <a:extLst xmlns:a="http://schemas.openxmlformats.org/drawingml/2006/main">
              <a:ext uri="{FF2B5EF4-FFF2-40B4-BE49-F238E27FC236}">
                <a16:creationId xmlns:a16="http://schemas.microsoft.com/office/drawing/2014/main" id="{2E2B903F-E6A2-4C6F-B7C6-B45F83C79C6E}"/>
              </a:ext>
            </a:extLst>
          </p:cNvPr>
          <p:cNvSpPr>
            <a:spLocks xmlns:a="http://schemas.openxmlformats.org/drawingml/2006/main" noGrp="1"/>
          </p:cNvSpPr>
          <p:nvPr/>
        </p:nvSpPr>
        <p:spPr>
          <a:xfrm xmlns:a="http://schemas.openxmlformats.org/drawingml/2006/main">
            <a:off x="5181600" y="2114550"/>
            <a:ext cx="1857375" cy="1162050"/>
          </a:xfrm>
          <a:prstGeom xmlns:a="http://schemas.openxmlformats.org/drawingml/2006/main" prst="rect">
            <a:avLst/>
          </a:prstGeom>
          <a:solidFill xmlns:a="http://schemas.openxmlformats.org/drawingml/2006/main">
            <a:srgbClr val="123B5D"/>
          </a:solidFill>
          <a:ln xmlns:a="http://schemas.openxmlformats.org/drawingml/2006/main" w="9525">
            <a:solidFill>
              <a:srgbClr val="123B5D"/>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Execute</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and poll</a:t>
            </a:r>
          </a:p>
        </p:txBody>
      </p:sp>
      <p:cxnSp>
        <p:nvCxnSpPr>
          <p:cNvPr id="20" name=""/>
          <p:cNvCxnSpPr>
            <a:stCxn xmlns:a="http://schemas.openxmlformats.org/drawingml/2006/main" id="4" idx="3"/>
            <a:endCxn xmlns:a="http://schemas.openxmlformats.org/drawingml/2006/main" id="6" idx="1"/>
          </p:cNvCxnSpPr>
          <p:nvPr/>
        </p:nvCxnSpPr>
        <p:spPr>
          <a:xfrm xmlns:a="http://schemas.openxmlformats.org/drawingml/2006/main">
            <a:off x="4752975" y="2695575"/>
            <a:ext cx="428625"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8" name="">
            <a:extLst xmlns:a="http://schemas.openxmlformats.org/drawingml/2006/main">
              <a:ext uri="{FF2B5EF4-FFF2-40B4-BE49-F238E27FC236}">
                <a16:creationId xmlns:a16="http://schemas.microsoft.com/office/drawing/2014/main" id="{E1676050-13FC-4E29-A5F5-7401B2F0A7EF}"/>
              </a:ext>
            </a:extLst>
          </p:cNvPr>
          <p:cNvSpPr>
            <a:spLocks xmlns:a="http://schemas.openxmlformats.org/drawingml/2006/main" noGrp="1"/>
          </p:cNvSpPr>
          <p:nvPr/>
        </p:nvSpPr>
        <p:spPr>
          <a:xfrm xmlns:a="http://schemas.openxmlformats.org/drawingml/2006/main">
            <a:off x="7467600" y="2114550"/>
            <a:ext cx="1857375" cy="1162050"/>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Attempt</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cleanup</a:t>
            </a:r>
          </a:p>
        </p:txBody>
      </p:sp>
      <p:cxnSp>
        <p:nvCxnSpPr>
          <p:cNvPr id="22" name=""/>
          <p:cNvCxnSpPr>
            <a:stCxn xmlns:a="http://schemas.openxmlformats.org/drawingml/2006/main" id="6" idx="3"/>
            <a:endCxn xmlns:a="http://schemas.openxmlformats.org/drawingml/2006/main" id="8" idx="1"/>
          </p:cNvCxnSpPr>
          <p:nvPr/>
        </p:nvCxnSpPr>
        <p:spPr>
          <a:xfrm xmlns:a="http://schemas.openxmlformats.org/drawingml/2006/main">
            <a:off x="7038975" y="2695575"/>
            <a:ext cx="428625"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10" name="">
            <a:extLst xmlns:a="http://schemas.openxmlformats.org/drawingml/2006/main">
              <a:ext uri="{FF2B5EF4-FFF2-40B4-BE49-F238E27FC236}">
                <a16:creationId xmlns:a16="http://schemas.microsoft.com/office/drawing/2014/main" id="{7E12BF3E-D2C2-41E5-97BF-EB30B803A2FE}"/>
              </a:ext>
            </a:extLst>
          </p:cNvPr>
          <p:cNvSpPr>
            <a:spLocks xmlns:a="http://schemas.openxmlformats.org/drawingml/2006/main" noGrp="1"/>
          </p:cNvSpPr>
          <p:nvPr/>
        </p:nvSpPr>
        <p:spPr>
          <a:xfrm xmlns:a="http://schemas.openxmlformats.org/drawingml/2006/main">
            <a:off x="9753600" y="2114550"/>
            <a:ext cx="1857375" cy="1162050"/>
          </a:xfrm>
          <a:prstGeom xmlns:a="http://schemas.openxmlformats.org/drawingml/2006/main" prst="rect">
            <a:avLst/>
          </a:prstGeom>
          <a:solidFill xmlns:a="http://schemas.openxmlformats.org/drawingml/2006/main">
            <a:srgbClr val="EDF2F6"/>
          </a:solidFill>
          <a:ln xmlns:a="http://schemas.openxmlformats.org/drawingml/2006/main" w="9525">
            <a:solidFill>
              <a:srgbClr val="91A4B5"/>
            </a:solid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Return</a:t>
            </a:r>
          </a:p>
          <a:p xmlns:a="http://schemas.openxmlformats.org/drawingml/2006/main">
            <a:pPr algn="ctr">
              <a:defRPr sz="1800" b="0">
                <a:solidFill>
                  <a:srgbClr val="183047"/>
                </a:solidFill>
                <a:latin typeface="Helvetica Neue"/>
                <a:ea typeface="Helvetica Neue"/>
                <a:cs typeface="Helvetica Neue"/>
              </a:defRPr>
            </a:pPr>
            <a:r>
              <a:rPr sz="1800" b="0">
                <a:solidFill>
                  <a:srgbClr val="183047"/>
                </a:solidFill>
                <a:latin typeface="Helvetica Neue"/>
                <a:ea typeface="Helvetica Neue"/>
                <a:cs typeface="Helvetica Neue"/>
              </a:rPr>
              <a:t>results</a:t>
            </a:r>
          </a:p>
        </p:txBody>
      </p:sp>
      <p:cxnSp>
        <p:nvCxnSpPr>
          <p:cNvPr id="24" name=""/>
          <p:cNvCxnSpPr>
            <a:stCxn xmlns:a="http://schemas.openxmlformats.org/drawingml/2006/main" id="8" idx="3"/>
            <a:endCxn xmlns:a="http://schemas.openxmlformats.org/drawingml/2006/main" id="10" idx="1"/>
          </p:cNvCxnSpPr>
          <p:nvPr/>
        </p:nvCxnSpPr>
        <p:spPr>
          <a:xfrm xmlns:a="http://schemas.openxmlformats.org/drawingml/2006/main">
            <a:off x="9324975" y="2695575"/>
            <a:ext cx="428625" cy="0"/>
          </a:xfrm>
          <a:prstGeom xmlns:a="http://schemas.openxmlformats.org/drawingml/2006/main" prst="straightConnector1">
            <a:avLst/>
          </a:prstGeom>
          <a:ln xmlns:a="http://schemas.openxmlformats.org/drawingml/2006/main" w="19050">
            <a:solidFill>
              <a:srgbClr val="607887"/>
            </a:solidFill>
            <a:prstDash val="solid"/>
            <a:tailEnd type="arrow" w="med" len="med"/>
          </a:ln>
        </p:spPr>
      </p:cxnSp>
      <p:sp>
        <p:nvSpPr>
          <p:cNvPr id="12" name="">
            <a:extLst xmlns:a="http://schemas.openxmlformats.org/drawingml/2006/main">
              <a:ext uri="{FF2B5EF4-FFF2-40B4-BE49-F238E27FC236}">
                <a16:creationId xmlns:a16="http://schemas.microsoft.com/office/drawing/2014/main" id="{1F1CCA20-695A-424D-9B7C-85DDC8792ABC}"/>
              </a:ext>
            </a:extLst>
          </p:cNvPr>
          <p:cNvSpPr>
            <a:spLocks xmlns:a="http://schemas.openxmlformats.org/drawingml/2006/main" noGrp="1"/>
          </p:cNvSpPr>
          <p:nvPr/>
        </p:nvSpPr>
        <p:spPr>
          <a:xfrm xmlns:a="http://schemas.openxmlformats.org/drawingml/2006/main">
            <a:off x="609600" y="40195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3B5D"/>
                </a:solidFill>
                <a:latin typeface="Helvetica Neue"/>
                <a:ea typeface="Helvetica Neue"/>
                <a:cs typeface="Helvetica Neue"/>
              </a:defRPr>
            </a:pPr>
            <a:r>
              <a:rPr sz="2400" b="1">
                <a:solidFill>
                  <a:srgbClr val="123B5D"/>
                </a:solidFill>
                <a:latin typeface="Helvetica Neue"/>
                <a:ea typeface="Helvetica Neue"/>
                <a:cs typeface="Helvetica Neue"/>
              </a:rPr>
              <a:t>Only assertions retry. Values resolve once per step.</a:t>
            </a:r>
          </a:p>
        </p:txBody>
      </p:sp>
      <p:sp>
        <p:nvSpPr>
          <p:cNvPr id="13" name="">
            <a:extLst xmlns:a="http://schemas.openxmlformats.org/drawingml/2006/main">
              <a:ext uri="{FF2B5EF4-FFF2-40B4-BE49-F238E27FC236}">
                <a16:creationId xmlns:a16="http://schemas.microsoft.com/office/drawing/2014/main" id="{DB65442C-4D0B-4D90-B8D2-A6AFCEDE8702}"/>
              </a:ext>
            </a:extLst>
          </p:cNvPr>
          <p:cNvSpPr>
            <a:spLocks xmlns:a="http://schemas.openxmlformats.org/drawingml/2006/main" noGrp="1"/>
          </p:cNvSpPr>
          <p:nvPr/>
        </p:nvSpPr>
        <p:spPr>
          <a:xfrm xmlns:a="http://schemas.openxmlformats.org/drawingml/2006/main">
            <a:off x="609600" y="48863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8"/>
                </a:solidFill>
                <a:latin typeface="Helvetica Neue"/>
                <a:ea typeface="Helvetica Neue"/>
                <a:cs typeface="Helvetica Neue"/>
              </a:defRPr>
            </a:pPr>
            <a:r>
              <a:rPr sz="2175" b="0">
                <a:solidFill>
                  <a:srgbClr val="526778"/>
                </a:solidFill>
                <a:latin typeface="Helvetica Neue"/>
                <a:ea typeface="Helvetica Neue"/>
                <a:cs typeface="Helvetica Neue"/>
              </a:rPr>
              <a:t>First failure stops later steps. Registered undo runs in reverse.</a:t>
            </a:r>
          </a:p>
          <a:p xmlns:a="http://schemas.openxmlformats.org/drawingml/2006/main">
            <a:pPr>
              <a:defRPr sz="2175" b="0">
                <a:solidFill>
                  <a:srgbClr val="526778"/>
                </a:solidFill>
                <a:latin typeface="Helvetica Neue"/>
                <a:ea typeface="Helvetica Neue"/>
                <a:cs typeface="Helvetica Neue"/>
              </a:defRPr>
            </a:pPr>
            <a:r>
              <a:rPr sz="2175" b="0">
                <a:solidFill>
                  <a:srgbClr val="526778"/>
                </a:solidFill>
                <a:latin typeface="Helvetica Neue"/>
                <a:ea typeface="Helvetica Neue"/>
                <a:cs typeface="Helvetica Neue"/>
              </a:rPr>
              <a:t>Cleanup is best effort; warnings remain in logs.</a:t>
            </a:r>
          </a:p>
        </p:txBody>
      </p:sp>
    </p:spTree>
    <p:extLst>
      <p:ext uri="{BB962C8B-B14F-4D97-AF65-F5344CB8AC3E}">
        <p14:creationId xmlns:p14="http://schemas.microsoft.com/office/powerpoint/2010/main" val="11226871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0175A4-20DA-4425-8559-C5AA6DA7E0AA}"/>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Local demonstration and results</a:t>
            </a:r>
          </a:p>
        </p:txBody>
      </p:sp>
      <p:sp>
        <p:nvSpPr>
          <p:cNvPr id="2" name="">
            <a:extLst xmlns:a="http://schemas.openxmlformats.org/drawingml/2006/main">
              <a:ext uri="{FF2B5EF4-FFF2-40B4-BE49-F238E27FC236}">
                <a16:creationId xmlns:a16="http://schemas.microsoft.com/office/drawing/2014/main" id="{62215F1B-8CD8-4182-B62D-239E8A4A456C}"/>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CA2E3342-ABB0-4EDD-AEC9-D5AD2E860531}"/>
              </a:ext>
            </a:extLst>
          </p:cNvPr>
          <p:cNvSpPr>
            <a:spLocks xmlns:a="http://schemas.openxmlformats.org/drawingml/2006/main" noGrp="1"/>
          </p:cNvSpPr>
          <p:nvPr/>
        </p:nvSpPr>
        <p:spPr>
          <a:xfrm xmlns:a="http://schemas.openxmlformats.org/drawingml/2006/main">
            <a:off x="609600" y="1628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D86"/>
                </a:solidFill>
                <a:latin typeface="Helvetica Neue"/>
                <a:ea typeface="Helvetica Neue"/>
                <a:cs typeface="Helvetica Neue"/>
              </a:defRPr>
            </a:pPr>
            <a:r>
              <a:rPr sz="2700" b="1">
                <a:solidFill>
                  <a:srgbClr val="147D86"/>
                </a:solidFill>
                <a:latin typeface="Helvetica Neue"/>
                <a:ea typeface="Helvetica Neue"/>
                <a:cs typeface="Helvetica Neue"/>
              </a:rPr>
              <a:t>Embedded LDAP + H2 + WireMock</a:t>
            </a:r>
          </a:p>
        </p:txBody>
      </p:sp>
      <p:sp>
        <p:nvSpPr>
          <p:cNvPr id="4" name="">
            <a:extLst xmlns:a="http://schemas.openxmlformats.org/drawingml/2006/main">
              <a:ext uri="{FF2B5EF4-FFF2-40B4-BE49-F238E27FC236}">
                <a16:creationId xmlns:a16="http://schemas.microsoft.com/office/drawing/2014/main" id="{D308E3C0-D0DD-4988-9BB3-2364DC5973E1}"/>
              </a:ext>
            </a:extLst>
          </p:cNvPr>
          <p:cNvSpPr>
            <a:spLocks xmlns:a="http://schemas.openxmlformats.org/drawingml/2006/main" noGrp="1"/>
          </p:cNvSpPr>
          <p:nvPr/>
        </p:nvSpPr>
        <p:spPr>
          <a:xfrm xmlns:a="http://schemas.openxmlformats.org/drawingml/2006/main">
            <a:off x="609600" y="25622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047"/>
                </a:solidFill>
                <a:latin typeface="Helvetica Neue"/>
                <a:ea typeface="Helvetica Neue"/>
                <a:cs typeface="Helvetica Neue"/>
              </a:defRPr>
            </a:pPr>
            <a:r>
              <a:rPr sz="2250" b="0">
                <a:solidFill>
                  <a:srgbClr val="183047"/>
                </a:solidFill>
                <a:latin typeface="Helvetica Neue"/>
                <a:ea typeface="Helvetica Neue"/>
                <a:cs typeface="Helvetica Neue"/>
              </a:rPr>
              <a:t>320 tests passed in the 15 September baseline</a:t>
            </a:r>
          </a:p>
        </p:txBody>
      </p:sp>
      <p:sp>
        <p:nvSpPr>
          <p:cNvPr id="5" name="">
            <a:extLst xmlns:a="http://schemas.openxmlformats.org/drawingml/2006/main">
              <a:ext uri="{FF2B5EF4-FFF2-40B4-BE49-F238E27FC236}">
                <a16:creationId xmlns:a16="http://schemas.microsoft.com/office/drawing/2014/main" id="{AF582BCA-F416-47FA-82C5-1E9A5FBB6BF0}"/>
              </a:ext>
            </a:extLst>
          </p:cNvPr>
          <p:cNvSpPr>
            <a:spLocks xmlns:a="http://schemas.openxmlformats.org/drawingml/2006/main" noGrp="1"/>
          </p:cNvSpPr>
          <p:nvPr/>
        </p:nvSpPr>
        <p:spPr>
          <a:xfrm xmlns:a="http://schemas.openxmlformats.org/drawingml/2006/main">
            <a:off x="609600" y="3381375"/>
            <a:ext cx="1095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047"/>
                </a:solidFill>
                <a:latin typeface="Helvetica Neue"/>
                <a:ea typeface="Helvetica Neue"/>
                <a:cs typeface="Helvetica Neue"/>
              </a:defRPr>
            </a:pPr>
            <a:r>
              <a:rPr sz="2025" b="0">
                <a:solidFill>
                  <a:srgbClr val="183047"/>
                </a:solidFill>
                <a:latin typeface="Helvetica Neue"/>
                <a:ea typeface="Helvetica Neue"/>
                <a:cs typeface="Helvetica Neue"/>
              </a:rPr>
              <a:t>./mvnw -pl idm-test-scenarios -am test \</a:t>
            </a:r>
          </a:p>
          <a:p xmlns:a="http://schemas.openxmlformats.org/drawingml/2006/main">
            <a:pPr>
              <a:defRPr sz="2025" b="0">
                <a:solidFill>
                  <a:srgbClr val="183047"/>
                </a:solidFill>
                <a:latin typeface="Helvetica Neue"/>
                <a:ea typeface="Helvetica Neue"/>
                <a:cs typeface="Helvetica Neue"/>
              </a:defRPr>
            </a:pPr>
            <a:r>
              <a:rPr sz="2025" b="0">
                <a:solidFill>
                  <a:srgbClr val="183047"/>
                </a:solidFill>
                <a:latin typeface="Helvetica Neue"/>
                <a:ea typeface="Helvetica Neue"/>
                <a:cs typeface="Helvetica Neue"/>
              </a:rPr>
              <a:t>  -Dtest=YamlScenarioTest \</a:t>
            </a:r>
          </a:p>
          <a:p xmlns:a="http://schemas.openxmlformats.org/drawingml/2006/main">
            <a:pPr>
              <a:defRPr sz="2025" b="0">
                <a:solidFill>
                  <a:srgbClr val="183047"/>
                </a:solidFill>
                <a:latin typeface="Helvetica Neue"/>
                <a:ea typeface="Helvetica Neue"/>
                <a:cs typeface="Helvetica Neue"/>
              </a:defRPr>
            </a:pPr>
            <a:r>
              <a:rPr sz="2025" b="0">
                <a:solidFill>
                  <a:srgbClr val="183047"/>
                </a:solidFill>
                <a:latin typeface="Helvetica Neue"/>
                <a:ea typeface="Helvetica Neue"/>
                <a:cs typeface="Helvetica Neue"/>
              </a:rPr>
              <a:t>  -Dsurefire.failIfNoSpecifiedTests=false</a:t>
            </a:r>
          </a:p>
        </p:txBody>
      </p:sp>
      <p:sp>
        <p:nvSpPr>
          <p:cNvPr id="6" name="">
            <a:extLst xmlns:a="http://schemas.openxmlformats.org/drawingml/2006/main">
              <a:ext uri="{FF2B5EF4-FFF2-40B4-BE49-F238E27FC236}">
                <a16:creationId xmlns:a16="http://schemas.microsoft.com/office/drawing/2014/main" id="{37A8CDCC-832C-456B-8433-C3D35BE9D224}"/>
              </a:ext>
            </a:extLst>
          </p:cNvPr>
          <p:cNvSpPr>
            <a:spLocks xmlns:a="http://schemas.openxmlformats.org/drawingml/2006/main" noGrp="1"/>
          </p:cNvSpPr>
          <p:nvPr/>
        </p:nvSpPr>
        <p:spPr>
          <a:xfrm xmlns:a="http://schemas.openxmlformats.org/drawingml/2006/main">
            <a:off x="609600" y="49815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47"/>
                </a:solidFill>
                <a:latin typeface="Helvetica Neue"/>
                <a:ea typeface="Helvetica Neue"/>
                <a:cs typeface="Helvetica Neue"/>
              </a:defRPr>
            </a:pPr>
            <a:r>
              <a:rPr sz="2100" b="0">
                <a:solidFill>
                  <a:srgbClr val="183047"/>
                </a:solidFill>
                <a:latin typeface="Helvetica Neue"/>
                <a:ea typeface="Helvetica Neue"/>
                <a:cs typeface="Helvetica Neue"/>
              </a:rPr>
              <a:t>Outputs: scenario-results.json and Surefire reports</a:t>
            </a:r>
          </a:p>
        </p:txBody>
      </p:sp>
      <p:sp>
        <p:nvSpPr>
          <p:cNvPr id="7" name="">
            <a:extLst xmlns:a="http://schemas.openxmlformats.org/drawingml/2006/main">
              <a:ext uri="{FF2B5EF4-FFF2-40B4-BE49-F238E27FC236}">
                <a16:creationId xmlns:a16="http://schemas.microsoft.com/office/drawing/2014/main" id="{E3085EB3-106E-4EAD-8B44-1A7C58D7FC82}"/>
              </a:ext>
            </a:extLst>
          </p:cNvPr>
          <p:cNvSpPr>
            <a:spLocks xmlns:a="http://schemas.openxmlformats.org/drawingml/2006/main" noGrp="1"/>
          </p:cNvSpPr>
          <p:nvPr/>
        </p:nvSpPr>
        <p:spPr>
          <a:xfrm xmlns:a="http://schemas.openxmlformats.org/drawingml/2006/main">
            <a:off x="609600" y="58197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3B5D"/>
                </a:solidFill>
                <a:latin typeface="Helvetica Neue"/>
                <a:ea typeface="Helvetica Neue"/>
                <a:cs typeface="Helvetica Neue"/>
              </a:defRPr>
            </a:pPr>
            <a:r>
              <a:rPr sz="1950" b="1">
                <a:solidFill>
                  <a:srgbClr val="123B5D"/>
                </a:solidFill>
                <a:latin typeface="Helvetica Neue"/>
                <a:ea typeface="Helvetica Neue"/>
                <a:cs typeface="Helvetica Neue"/>
              </a:rPr>
              <a:t>This demonstrates the framework, not real IdM provisioning.</a:t>
            </a:r>
          </a:p>
        </p:txBody>
      </p:sp>
    </p:spTree>
    <p:extLst>
      <p:ext uri="{BB962C8B-B14F-4D97-AF65-F5344CB8AC3E}">
        <p14:creationId xmlns:p14="http://schemas.microsoft.com/office/powerpoint/2010/main" val="979571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1CCF0B-DC06-4E1E-B72D-D1D063267C2A}"/>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B5D"/>
                </a:solidFill>
                <a:latin typeface="Helvetica Neue"/>
                <a:ea typeface="Helvetica Neue"/>
                <a:cs typeface="Helvetica Neue"/>
              </a:defRPr>
            </a:pPr>
            <a:r>
              <a:rPr sz="3300" b="1">
                <a:solidFill>
                  <a:srgbClr val="123B5D"/>
                </a:solidFill>
                <a:latin typeface="Helvetica Neue"/>
                <a:ea typeface="Helvetica Neue"/>
                <a:cs typeface="Helvetica Neue"/>
              </a:rPr>
              <a:t>Current scope and next steps</a:t>
            </a:r>
          </a:p>
        </p:txBody>
      </p:sp>
      <p:sp>
        <p:nvSpPr>
          <p:cNvPr id="2" name="">
            <a:extLst xmlns:a="http://schemas.openxmlformats.org/drawingml/2006/main">
              <a:ext uri="{FF2B5EF4-FFF2-40B4-BE49-F238E27FC236}">
                <a16:creationId xmlns:a16="http://schemas.microsoft.com/office/drawing/2014/main" id="{048A7DFA-9D51-4DB6-8626-2B86ACC5FB6D}"/>
              </a:ext>
            </a:extLst>
          </p:cNvPr>
          <p:cNvSpPr>
            <a:spLocks xmlns:a="http://schemas.openxmlformats.org/drawingml/2006/main" noGrp="1"/>
          </p:cNvSpPr>
          <p:nvPr/>
        </p:nvSpPr>
        <p:spPr>
          <a:xfrm xmlns:a="http://schemas.openxmlformats.org/drawingml/2006/main">
            <a:off x="11334750" y="63627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78"/>
                </a:solidFill>
                <a:latin typeface="Helvetica Neue"/>
                <a:ea typeface="Helvetica Neue"/>
                <a:cs typeface="Helvetica Neue"/>
              </a:defRPr>
            </a:pPr>
            <a:r>
              <a:rPr sz="1275" b="0">
                <a:solidFill>
                  <a:srgbClr val="526778"/>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81F07217-B22A-4187-A73C-A909EC6A1570}"/>
              </a:ext>
            </a:extLst>
          </p:cNvPr>
          <p:cNvSpPr>
            <a:spLocks xmlns:a="http://schemas.openxmlformats.org/drawingml/2006/main" noGrp="1"/>
          </p:cNvSpPr>
          <p:nvPr/>
        </p:nvSpPr>
        <p:spPr>
          <a:xfrm xmlns:a="http://schemas.openxmlformats.org/drawingml/2006/main">
            <a:off x="609600" y="1619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86"/>
                </a:solidFill>
                <a:latin typeface="Helvetica Neue"/>
                <a:ea typeface="Helvetica Neue"/>
                <a:cs typeface="Helvetica Neue"/>
              </a:defRPr>
            </a:pPr>
            <a:r>
              <a:rPr sz="2400" b="1">
                <a:solidFill>
                  <a:srgbClr val="147D86"/>
                </a:solidFill>
                <a:latin typeface="Helvetica Neue"/>
                <a:ea typeface="Helvetica Neue"/>
                <a:cs typeface="Helvetica Neue"/>
              </a:rPr>
              <a:t>Available</a:t>
            </a:r>
          </a:p>
        </p:txBody>
      </p:sp>
      <p:sp>
        <p:nvSpPr>
          <p:cNvPr id="4" name="">
            <a:extLst xmlns:a="http://schemas.openxmlformats.org/drawingml/2006/main">
              <a:ext uri="{FF2B5EF4-FFF2-40B4-BE49-F238E27FC236}">
                <a16:creationId xmlns:a16="http://schemas.microsoft.com/office/drawing/2014/main" id="{6A09FE55-031D-4E4F-82F1-2BE7D56DEB43}"/>
              </a:ext>
            </a:extLst>
          </p:cNvPr>
          <p:cNvSpPr>
            <a:spLocks xmlns:a="http://schemas.openxmlformats.org/drawingml/2006/main" noGrp="1"/>
          </p:cNvSpPr>
          <p:nvPr/>
        </p:nvSpPr>
        <p:spPr>
          <a:xfrm xmlns:a="http://schemas.openxmlformats.org/drawingml/2006/main">
            <a:off x="3905250" y="161925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047"/>
                </a:solidFill>
                <a:latin typeface="Helvetica Neue"/>
                <a:ea typeface="Helvetica Neue"/>
                <a:cs typeface="Helvetica Neue"/>
              </a:defRPr>
            </a:pPr>
            <a:r>
              <a:rPr sz="2175" b="0">
                <a:solidFill>
                  <a:srgbClr val="183047"/>
                </a:solidFill>
                <a:latin typeface="Helvetica Neue"/>
                <a:ea typeface="Helvetica Neue"/>
                <a:cs typeface="Helvetica Neue"/>
              </a:rPr>
              <a:t>YAML LDAP workflows, value expressions and captures</a:t>
            </a:r>
          </a:p>
          <a:p xmlns:a="http://schemas.openxmlformats.org/drawingml/2006/main">
            <a:pPr>
              <a:defRPr sz="2175" b="0">
                <a:solidFill>
                  <a:srgbClr val="183047"/>
                </a:solidFill>
                <a:latin typeface="Helvetica Neue"/>
                <a:ea typeface="Helvetica Neue"/>
                <a:cs typeface="Helvetica Neue"/>
              </a:defRPr>
            </a:pPr>
            <a:r>
              <a:rPr sz="2175" b="0">
                <a:solidFill>
                  <a:srgbClr val="183047"/>
                </a:solidFill>
                <a:latin typeface="Helvetica Neue"/>
                <a:ea typeface="Helvetica Neue"/>
                <a:cs typeface="Helvetica Neue"/>
              </a:rPr>
              <a:t>Java LDAP, database, REST and SOAP APIs</a:t>
            </a:r>
          </a:p>
        </p:txBody>
      </p:sp>
      <p:sp>
        <p:nvSpPr>
          <p:cNvPr id="5" name="">
            <a:extLst xmlns:a="http://schemas.openxmlformats.org/drawingml/2006/main">
              <a:ext uri="{FF2B5EF4-FFF2-40B4-BE49-F238E27FC236}">
                <a16:creationId xmlns:a16="http://schemas.microsoft.com/office/drawing/2014/main" id="{9B47C206-7B94-4953-BB33-FC4D7AE4BC1D}"/>
              </a:ext>
            </a:extLst>
          </p:cNvPr>
          <p:cNvSpPr>
            <a:spLocks xmlns:a="http://schemas.openxmlformats.org/drawingml/2006/main" noGrp="1"/>
          </p:cNvSpPr>
          <p:nvPr/>
        </p:nvSpPr>
        <p:spPr>
          <a:xfrm xmlns:a="http://schemas.openxmlformats.org/drawingml/2006/main">
            <a:off x="609600" y="31813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86"/>
                </a:solidFill>
                <a:latin typeface="Helvetica Neue"/>
                <a:ea typeface="Helvetica Neue"/>
                <a:cs typeface="Helvetica Neue"/>
              </a:defRPr>
            </a:pPr>
            <a:r>
              <a:rPr sz="2400" b="1">
                <a:solidFill>
                  <a:srgbClr val="147D86"/>
                </a:solidFill>
                <a:latin typeface="Helvetica Neue"/>
                <a:ea typeface="Helvetica Neue"/>
                <a:cs typeface="Helvetica Neue"/>
              </a:rPr>
              <a:t>Approved work</a:t>
            </a:r>
          </a:p>
        </p:txBody>
      </p:sp>
      <p:sp>
        <p:nvSpPr>
          <p:cNvPr id="6" name="">
            <a:extLst xmlns:a="http://schemas.openxmlformats.org/drawingml/2006/main">
              <a:ext uri="{FF2B5EF4-FFF2-40B4-BE49-F238E27FC236}">
                <a16:creationId xmlns:a16="http://schemas.microsoft.com/office/drawing/2014/main" id="{B93E30D3-A03E-4BBE-8EDF-0ACAAD534777}"/>
              </a:ext>
            </a:extLst>
          </p:cNvPr>
          <p:cNvSpPr>
            <a:spLocks xmlns:a="http://schemas.openxmlformats.org/drawingml/2006/main" noGrp="1"/>
          </p:cNvSpPr>
          <p:nvPr/>
        </p:nvSpPr>
        <p:spPr>
          <a:xfrm xmlns:a="http://schemas.openxmlformats.org/drawingml/2006/main">
            <a:off x="3905250" y="3181350"/>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047"/>
                </a:solidFill>
                <a:latin typeface="Helvetica Neue"/>
                <a:ea typeface="Helvetica Neue"/>
                <a:cs typeface="Helvetica Neue"/>
              </a:defRPr>
            </a:pPr>
            <a:r>
              <a:rPr sz="2175" b="0">
                <a:solidFill>
                  <a:srgbClr val="183047"/>
                </a:solidFill>
                <a:latin typeface="Helvetica Neue"/>
                <a:ea typeface="Helvetica Neue"/>
                <a:cs typeface="Helvetica Neue"/>
              </a:rPr>
              <a:t>Additional YAML steps and scenario migration</a:t>
            </a:r>
          </a:p>
        </p:txBody>
      </p:sp>
      <p:sp>
        <p:nvSpPr>
          <p:cNvPr id="7" name="">
            <a:extLst xmlns:a="http://schemas.openxmlformats.org/drawingml/2006/main">
              <a:ext uri="{FF2B5EF4-FFF2-40B4-BE49-F238E27FC236}">
                <a16:creationId xmlns:a16="http://schemas.microsoft.com/office/drawing/2014/main" id="{BB5E394F-AF3E-4B14-A348-A5B8DC2BC860}"/>
              </a:ext>
            </a:extLst>
          </p:cNvPr>
          <p:cNvSpPr>
            <a:spLocks xmlns:a="http://schemas.openxmlformats.org/drawingml/2006/main" noGrp="1"/>
          </p:cNvSpPr>
          <p:nvPr/>
        </p:nvSpPr>
        <p:spPr>
          <a:xfrm xmlns:a="http://schemas.openxmlformats.org/drawingml/2006/main">
            <a:off x="609600" y="4524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D86"/>
                </a:solidFill>
                <a:latin typeface="Helvetica Neue"/>
                <a:ea typeface="Helvetica Neue"/>
                <a:cs typeface="Helvetica Neue"/>
              </a:defRPr>
            </a:pPr>
            <a:r>
              <a:rPr sz="2400" b="1">
                <a:solidFill>
                  <a:srgbClr val="147D86"/>
                </a:solidFill>
                <a:latin typeface="Helvetica Neue"/>
                <a:ea typeface="Helvetica Neue"/>
                <a:cs typeface="Helvetica Neue"/>
              </a:rPr>
              <a:t>Separate work</a:t>
            </a:r>
          </a:p>
        </p:txBody>
      </p:sp>
      <p:sp>
        <p:nvSpPr>
          <p:cNvPr id="8" name="">
            <a:extLst xmlns:a="http://schemas.openxmlformats.org/drawingml/2006/main">
              <a:ext uri="{FF2B5EF4-FFF2-40B4-BE49-F238E27FC236}">
                <a16:creationId xmlns:a16="http://schemas.microsoft.com/office/drawing/2014/main" id="{11F1C9B5-B73B-4794-9F55-5E161D1BEB21}"/>
              </a:ext>
            </a:extLst>
          </p:cNvPr>
          <p:cNvSpPr>
            <a:spLocks xmlns:a="http://schemas.openxmlformats.org/drawingml/2006/main" noGrp="1"/>
          </p:cNvSpPr>
          <p:nvPr/>
        </p:nvSpPr>
        <p:spPr>
          <a:xfrm xmlns:a="http://schemas.openxmlformats.org/drawingml/2006/main">
            <a:off x="3905250" y="4524375"/>
            <a:ext cx="752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047"/>
                </a:solidFill>
                <a:latin typeface="Helvetica Neue"/>
                <a:ea typeface="Helvetica Neue"/>
                <a:cs typeface="Helvetica Neue"/>
              </a:defRPr>
            </a:pPr>
            <a:r>
              <a:rPr sz="2175" b="0">
                <a:solidFill>
                  <a:srgbClr val="183047"/>
                </a:solidFill>
                <a:latin typeface="Helvetica Neue"/>
                <a:ea typeface="Helvetica Neue"/>
                <a:cs typeface="Helvetica Neue"/>
              </a:rPr>
              <a:t>Real IdM wiring and validation</a:t>
            </a:r>
          </a:p>
          <a:p xmlns:a="http://schemas.openxmlformats.org/drawingml/2006/main">
            <a:pPr>
              <a:defRPr sz="2175" b="0">
                <a:solidFill>
                  <a:srgbClr val="183047"/>
                </a:solidFill>
                <a:latin typeface="Helvetica Neue"/>
                <a:ea typeface="Helvetica Neue"/>
                <a:cs typeface="Helvetica Neue"/>
              </a:defRPr>
            </a:pPr>
            <a:r>
              <a:rPr sz="2175" b="0">
                <a:solidFill>
                  <a:srgbClr val="183047"/>
                </a:solidFill>
                <a:latin typeface="Helvetica Neue"/>
                <a:ea typeface="Helvetica Neue"/>
                <a:cs typeface="Helvetica Neue"/>
              </a:rPr>
              <a:t>CLI, UI and HTML reports are deferred</a:t>
            </a:r>
          </a:p>
        </p:txBody>
      </p:sp>
      <p:sp>
        <p:nvSpPr>
          <p:cNvPr id="9" name="">
            <a:extLst xmlns:a="http://schemas.openxmlformats.org/drawingml/2006/main">
              <a:ext uri="{FF2B5EF4-FFF2-40B4-BE49-F238E27FC236}">
                <a16:creationId xmlns:a16="http://schemas.microsoft.com/office/drawing/2014/main" id="{2654A48B-1C03-4904-AB2A-E66522006FD3}"/>
              </a:ext>
            </a:extLst>
          </p:cNvPr>
          <p:cNvSpPr>
            <a:spLocks xmlns:a="http://schemas.openxmlformats.org/drawingml/2006/main" noGrp="1"/>
          </p:cNvSpPr>
          <p:nvPr/>
        </p:nvSpPr>
        <p:spPr>
          <a:xfrm xmlns:a="http://schemas.openxmlformats.org/drawingml/2006/main">
            <a:off x="609600" y="60293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8"/>
                </a:solidFill>
                <a:latin typeface="Helvetica Neue"/>
                <a:ea typeface="Helvetica Neue"/>
                <a:cs typeface="Helvetica Neue"/>
              </a:defRPr>
            </a:pPr>
            <a:r>
              <a:rPr sz="1800" b="0">
                <a:solidFill>
                  <a:srgbClr val="526778"/>
                </a:solidFill>
                <a:latin typeface="Helvetica Neue"/>
                <a:ea typeface="Helvetica Neue"/>
                <a:cs typeface="Helvetica Neue"/>
              </a:rPr>
              <a:t>Reading path: overview → authoring guide → architecture guide</a:t>
            </a:r>
          </a:p>
        </p:txBody>
      </p:sp>
    </p:spTree>
    <p:extLst>
      <p:ext uri="{BB962C8B-B14F-4D97-AF65-F5344CB8AC3E}">
        <p14:creationId xmlns:p14="http://schemas.microsoft.com/office/powerpoint/2010/main" val="515548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2026-09-15T18:32:41.8660000Z</dcterms:created>
  <dcterms:modified xsi:type="dcterms:W3CDTF">2026-09-15T18:32:41.8660000Z</dcterms:modified>
</coreProperties>
</file>