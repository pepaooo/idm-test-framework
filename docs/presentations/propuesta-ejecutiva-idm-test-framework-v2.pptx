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puesta" id="{519e8d2d-7f40-e4bb-a4cf-3a54101c04fa}">
          <p14:sldIdLst>
            <p14:sldId id="256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README.md; docs/architecture/capabilities.md. Apertura: una solicitud exitosa en IdM no basta; el framework comprueba el estado observado en cada destino (BD y Active Directory) y deja evidencia de cada paso.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pom.xml (Java 25, Spring Boot 4.1.1); docs/guides/runner.md (ZIP con Java 25 para macOS, Windows y Linux); docs/architecture/capabilities.md (conectores, drivers incluidos, límites). Memoria: pico de ~350 MB de RSS medido el 2026-10-27 ejecutando los 21 escenarios YAML con LDAP, BD y servicios embebidos; 1 GB libre es margen recomendado, no un mínimo publicado. Limitaciones: el workbench es local para una persona (ADR 0007 deja el servidor compartido para después); los escenarios ya se ejecutaron contra un laboratorio real de IdM (eDirectory, User Application, BD y AD), pero aún no en un ambiente productivo de cliente; contraseñas, estado de cuenta y paginación de AD son ITF-33; la ejecución en paralelo está fuera de alcance. Mitigación: piloto en laboratorio con cuentas de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Beneficios planteados por el requerimiento y vinculados a capacidades reales (README.md, docs/architecture/capabilities.md): escenarios YAML repetibles, validación con espera, reporte HTML/JSON por ejecución con evidencia por paso. No se muestran cifras de ahorro ni de reducción de errores porque aún no hay una medición; el piloto puede producirla (tiempo manual vs. tiempo con el framework).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Fuentes: idm-test-scenarios/src/test/resources/scenarios-real/provisioning-user-to-idm-1.yaml (alta en eDirectory, roles.grant, db.verify de usuario y permisos) y provisioning-user-to-idm-2.yaml (resources.grant y ldap.verify en AD de la cuenta y memberOf, con espera de hasta 2 minutos). Los escenarios del flujo ya están escritos; el piloto los ejecuta en el laboratorio acordado. Pedir la decisión: aprobar el piloto con este caso de uso.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7665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91840"/>
            <a:ext cx="67665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IdM Test Framework  ·  Propuesta para Servicios Profesionales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Automatizar la validación de IdM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918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</a:rPr>
              <a:t>Una propuesta para Servicios Profesionales</a:t>
            </a:r>
            <a:endParaRPr lang="en-US" sz="2200" dirty="0"/>
          </a:p>
        </p:txBody>
      </p:sp>
      <p:sp>
        <p:nvSpPr>
          <p:cNvPr id="4" name="Key message"/>
          <p:cNvSpPr txBox="1"/>
          <p:nvPr/>
        </p:nvSpPr>
        <p:spPr>
          <a:xfrm>
            <a:off x="548640" y="39776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Un solo flujo crea la identidad, asigna los accesos y comprueba el resultado en la base de datos y en Active Directory.</a:t>
            </a:r>
            <a:endParaRPr lang="en-US" sz="1800" dirty="0"/>
          </a:p>
        </p:txBody>
      </p:sp>
      <p:sp>
        <p:nvSpPr>
          <p:cNvPr id="5" name="Escenarios reutilizables circle"/>
          <p:cNvSpPr/>
          <p:nvPr/>
        </p:nvSpPr>
        <p:spPr>
          <a:xfrm>
            <a:off x="548640" y="5303520"/>
            <a:ext cx="457200" cy="45720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6" name="Escenarios reutilizables icon" descr="Escenarios reutilizab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5417820"/>
            <a:ext cx="228600" cy="228600"/>
          </a:xfrm>
          <a:prstGeom prst="rect">
            <a:avLst/>
          </a:prstGeom>
        </p:spPr>
      </p:pic>
      <p:sp>
        <p:nvSpPr>
          <p:cNvPr id="7" name="Escenarios reutilizables"/>
          <p:cNvSpPr txBox="1"/>
          <p:nvPr/>
        </p:nvSpPr>
        <p:spPr>
          <a:xfrm>
            <a:off x="1097280" y="5303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Escenarios reutilizables</a:t>
            </a:r>
            <a:endParaRPr lang="en-US" sz="1400" dirty="0"/>
          </a:p>
        </p:txBody>
      </p:sp>
      <p:sp>
        <p:nvSpPr>
          <p:cNvPr id="8" name="Validación con espera circle"/>
          <p:cNvSpPr/>
          <p:nvPr/>
        </p:nvSpPr>
        <p:spPr>
          <a:xfrm>
            <a:off x="2926080" y="5303520"/>
            <a:ext cx="457200" cy="45720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9" name="Validación con espera icon" descr="Validación con espe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0380" y="5417820"/>
            <a:ext cx="228600" cy="228600"/>
          </a:xfrm>
          <a:prstGeom prst="rect">
            <a:avLst/>
          </a:prstGeom>
        </p:spPr>
      </p:pic>
      <p:sp>
        <p:nvSpPr>
          <p:cNvPr id="10" name="Validación con espera"/>
          <p:cNvSpPr txBox="1"/>
          <p:nvPr/>
        </p:nvSpPr>
        <p:spPr>
          <a:xfrm>
            <a:off x="3474720" y="5303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Validación con espera</a:t>
            </a:r>
            <a:endParaRPr lang="en-US" sz="1400" dirty="0"/>
          </a:p>
        </p:txBody>
      </p:sp>
      <p:sp>
        <p:nvSpPr>
          <p:cNvPr id="11" name="Evidencia por ejecución circle"/>
          <p:cNvSpPr/>
          <p:nvPr/>
        </p:nvSpPr>
        <p:spPr>
          <a:xfrm>
            <a:off x="5303520" y="5303520"/>
            <a:ext cx="457200" cy="45720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12" name="Evidencia por ejecución icon" descr="Evidencia por ejecució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5417820"/>
            <a:ext cx="228600" cy="228600"/>
          </a:xfrm>
          <a:prstGeom prst="rect">
            <a:avLst/>
          </a:prstGeom>
        </p:spPr>
      </p:pic>
      <p:sp>
        <p:nvSpPr>
          <p:cNvPr id="13" name="Evidencia por ejecución"/>
          <p:cNvSpPr txBox="1"/>
          <p:nvPr/>
        </p:nvSpPr>
        <p:spPr>
          <a:xfrm>
            <a:off x="5852160" y="5303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Evidencia por ejecución</a:t>
            </a:r>
            <a:endParaRPr lang="en-US" sz="1400" dirty="0"/>
          </a:p>
        </p:txBody>
      </p:sp>
      <p:sp>
        <p:nvSpPr>
          <p:cNvPr id="14" name="Flow line"/>
          <p:cNvSpPr/>
          <p:nvPr/>
        </p:nvSpPr>
        <p:spPr>
          <a:xfrm>
            <a:off x="9166860" y="1531620"/>
            <a:ext cx="0" cy="3703320"/>
          </a:xfrm>
          <a:prstGeom prst="line">
            <a:avLst/>
          </a:prstGeom>
          <a:noFill/>
          <a:ln w="25400">
            <a:solidFill>
              <a:srgbClr val="617080"/>
            </a:solidFill>
            <a:prstDash val="dash"/>
          </a:ln>
        </p:spPr>
      </p:sp>
      <p:sp>
        <p:nvSpPr>
          <p:cNvPr id="15" name="Identidad en IdM circle"/>
          <p:cNvSpPr/>
          <p:nvPr/>
        </p:nvSpPr>
        <p:spPr>
          <a:xfrm>
            <a:off x="8778240" y="1143000"/>
            <a:ext cx="777240" cy="77724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16" name="Identidad en IdM icon" descr="Identidad en Id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2550" y="1337310"/>
            <a:ext cx="388620" cy="388620"/>
          </a:xfrm>
          <a:prstGeom prst="rect">
            <a:avLst/>
          </a:prstGeom>
        </p:spPr>
      </p:pic>
      <p:sp>
        <p:nvSpPr>
          <p:cNvPr id="17" name="Identidad en IdM label"/>
          <p:cNvSpPr txBox="1"/>
          <p:nvPr/>
        </p:nvSpPr>
        <p:spPr>
          <a:xfrm>
            <a:off x="9784080" y="1143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Identidad en IdM</a:t>
            </a:r>
            <a:endParaRPr lang="en-US" sz="1600" dirty="0"/>
          </a:p>
        </p:txBody>
      </p:sp>
      <p:sp>
        <p:nvSpPr>
          <p:cNvPr id="18" name="Accesos asignados circle"/>
          <p:cNvSpPr/>
          <p:nvPr/>
        </p:nvSpPr>
        <p:spPr>
          <a:xfrm>
            <a:off x="8778240" y="2377440"/>
            <a:ext cx="777240" cy="777240"/>
          </a:xfrm>
          <a:prstGeom prst="ellipse">
            <a:avLst/>
          </a:prstGeom>
          <a:solidFill>
            <a:srgbClr val="1F9D8B"/>
          </a:solidFill>
          <a:ln/>
        </p:spPr>
      </p:sp>
      <p:pic>
        <p:nvPicPr>
          <p:cNvPr id="19" name="Accesos asignados icon" descr="Accesos asignado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550" y="2571750"/>
            <a:ext cx="388620" cy="388620"/>
          </a:xfrm>
          <a:prstGeom prst="rect">
            <a:avLst/>
          </a:prstGeom>
        </p:spPr>
      </p:pic>
      <p:sp>
        <p:nvSpPr>
          <p:cNvPr id="20" name="Accesos asignados label"/>
          <p:cNvSpPr txBox="1"/>
          <p:nvPr/>
        </p:nvSpPr>
        <p:spPr>
          <a:xfrm>
            <a:off x="9784080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Accesos asignados</a:t>
            </a:r>
            <a:endParaRPr lang="en-US" sz="1600" dirty="0"/>
          </a:p>
        </p:txBody>
      </p:sp>
      <p:sp>
        <p:nvSpPr>
          <p:cNvPr id="21" name="Base de datos circle"/>
          <p:cNvSpPr/>
          <p:nvPr/>
        </p:nvSpPr>
        <p:spPr>
          <a:xfrm>
            <a:off x="8778240" y="3611880"/>
            <a:ext cx="777240" cy="777240"/>
          </a:xfrm>
          <a:prstGeom prst="ellipse">
            <a:avLst/>
          </a:prstGeom>
          <a:solidFill>
            <a:srgbClr val="1F9D8B"/>
          </a:solidFill>
          <a:ln/>
        </p:spPr>
      </p:sp>
      <p:pic>
        <p:nvPicPr>
          <p:cNvPr id="22" name="Base de datos icon" descr="Base de dato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2550" y="3806190"/>
            <a:ext cx="388620" cy="388620"/>
          </a:xfrm>
          <a:prstGeom prst="rect">
            <a:avLst/>
          </a:prstGeom>
        </p:spPr>
      </p:pic>
      <p:sp>
        <p:nvSpPr>
          <p:cNvPr id="23" name="Base de datos label"/>
          <p:cNvSpPr txBox="1"/>
          <p:nvPr/>
        </p:nvSpPr>
        <p:spPr>
          <a:xfrm>
            <a:off x="9784080" y="3611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Base de datos</a:t>
            </a:r>
            <a:endParaRPr lang="en-US" sz="1600" dirty="0"/>
          </a:p>
        </p:txBody>
      </p:sp>
      <p:sp>
        <p:nvSpPr>
          <p:cNvPr id="24" name="Active Directory circle"/>
          <p:cNvSpPr/>
          <p:nvPr/>
        </p:nvSpPr>
        <p:spPr>
          <a:xfrm>
            <a:off x="8778240" y="4846320"/>
            <a:ext cx="777240" cy="777240"/>
          </a:xfrm>
          <a:prstGeom prst="ellipse">
            <a:avLst/>
          </a:prstGeom>
          <a:solidFill>
            <a:srgbClr val="1F9D8B"/>
          </a:solidFill>
          <a:ln/>
        </p:spPr>
      </p:sp>
      <p:pic>
        <p:nvPicPr>
          <p:cNvPr id="25" name="Active Directory icon" descr="Active Director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2550" y="5040630"/>
            <a:ext cx="388620" cy="388620"/>
          </a:xfrm>
          <a:prstGeom prst="rect">
            <a:avLst/>
          </a:prstGeom>
        </p:spPr>
      </p:pic>
      <p:sp>
        <p:nvSpPr>
          <p:cNvPr id="26" name="Active Directory label"/>
          <p:cNvSpPr txBox="1"/>
          <p:nvPr/>
        </p:nvSpPr>
        <p:spPr>
          <a:xfrm>
            <a:off x="9784080" y="48463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Active Directory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Cómo está hecho y qué necesita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Componentes, condiciones de uso y límites actuales</a:t>
            </a:r>
            <a:endParaRPr lang="en-US" sz="1800" dirty="0"/>
          </a:p>
        </p:txBody>
      </p:sp>
      <p:sp>
        <p:nvSpPr>
          <p:cNvPr id="4" name="Built with card"/>
          <p:cNvSpPr/>
          <p:nvPr/>
        </p:nvSpPr>
        <p:spPr>
          <a:xfrm>
            <a:off x="548640" y="1600200"/>
            <a:ext cx="3566160" cy="4572000"/>
          </a:xfrm>
          <a:prstGeom prst="roundRect">
            <a:avLst>
              <a:gd name="adj" fmla="val 3077"/>
            </a:avLst>
          </a:prstGeom>
          <a:solidFill>
            <a:srgbClr val="EEF3F9"/>
          </a:solidFill>
          <a:ln/>
        </p:spPr>
      </p:sp>
      <p:sp>
        <p:nvSpPr>
          <p:cNvPr id="5" name="Tecnología circle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6" name="Tecnología icon" descr="Tecnologí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000250"/>
            <a:ext cx="251460" cy="251460"/>
          </a:xfrm>
          <a:prstGeom prst="rect">
            <a:avLst/>
          </a:prstGeom>
        </p:spPr>
      </p:pic>
      <p:sp>
        <p:nvSpPr>
          <p:cNvPr id="7" name="Built with header"/>
          <p:cNvSpPr txBox="1"/>
          <p:nvPr/>
        </p:nvSpPr>
        <p:spPr>
          <a:xfrm>
            <a:off x="1463040" y="1874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EN QUÉ ESTÁ HECHO</a:t>
            </a:r>
            <a:endParaRPr lang="en-US" sz="1400" dirty="0"/>
          </a:p>
        </p:txBody>
      </p:sp>
      <p:sp>
        <p:nvSpPr>
          <p:cNvPr id="8" name="Built with list"/>
          <p:cNvSpPr txBox="1"/>
          <p:nvPr/>
        </p:nvSpPr>
        <p:spPr>
          <a:xfrm>
            <a:off x="822960" y="251460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Java 25 LTS y Spring Boot 4.1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Escenarios en YAML (consultor) o Java/JUnit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Reporte HTML y JSON por ejecución</a:t>
            </a:r>
            <a:endParaRPr lang="en-US" sz="1400" dirty="0"/>
          </a:p>
        </p:txBody>
      </p:sp>
      <p:sp>
        <p:nvSpPr>
          <p:cNvPr id="9" name="Requisitos circle"/>
          <p:cNvSpPr/>
          <p:nvPr/>
        </p:nvSpPr>
        <p:spPr>
          <a:xfrm>
            <a:off x="822960" y="3977640"/>
            <a:ext cx="502920" cy="50292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10" name="Requisitos icon" descr="Requisit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4103370"/>
            <a:ext cx="251460" cy="251460"/>
          </a:xfrm>
          <a:prstGeom prst="rect">
            <a:avLst/>
          </a:prstGeom>
        </p:spPr>
      </p:pic>
      <p:sp>
        <p:nvSpPr>
          <p:cNvPr id="11" name="Needs header"/>
          <p:cNvSpPr txBox="1"/>
          <p:nvPr/>
        </p:nvSpPr>
        <p:spPr>
          <a:xfrm>
            <a:off x="1463040" y="39776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QUÉ NECESITA</a:t>
            </a:r>
            <a:endParaRPr lang="en-US" sz="1400" dirty="0"/>
          </a:p>
        </p:txBody>
      </p:sp>
      <p:sp>
        <p:nvSpPr>
          <p:cNvPr id="12" name="Needs list"/>
          <p:cNvSpPr txBox="1"/>
          <p:nvPr/>
        </p:nvSpPr>
        <p:spPr>
          <a:xfrm>
            <a:off x="822960" y="461772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 equipo macOS, Windows o Linux; Java ya viene en el ZIP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Red hacia IdM, BD y AD del laboratorio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Cuentas de servicio y datos de prueba</a:t>
            </a:r>
            <a:endParaRPr lang="en-US" sz="1400" dirty="0"/>
          </a:p>
        </p:txBody>
      </p:sp>
      <p:graphicFrame>
        <p:nvGraphicFramePr>
          <p:cNvPr id="3" name="Componen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600200"/>
          <a:ext cx="7253935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331720"/>
                <a:gridCol w="277337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Componente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Qué hace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Condición para usarlo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Runner idmtest y Workbench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Ejecuta, valida y genera el reporte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~350 MB de RAM medidos; 1 GB libre recomendado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LDAP: eDirectory y AD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Crea y verifica cuentas y grupos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Red a 389/636, cuenta de servicio, certificado TLS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SOAP: Roles y Recursos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Asigna roles y recursos en IdM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URL de User Application y usuario con permiso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SQL (JDBC)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Valida usuario y permisos en la BD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Driver PostgreSQL, Oracle o SQL Server incluido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REST / HTTP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Consulta APIs del IdM o del destino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URL y credencial Basic u OAuth2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Limits card"/>
          <p:cNvSpPr/>
          <p:nvPr/>
        </p:nvSpPr>
        <p:spPr>
          <a:xfrm>
            <a:off x="4389120" y="4572000"/>
            <a:ext cx="7253935" cy="1600200"/>
          </a:xfrm>
          <a:prstGeom prst="roundRect">
            <a:avLst>
              <a:gd name="adj" fmla="val 6857"/>
            </a:avLst>
          </a:prstGeom>
          <a:solidFill>
            <a:srgbClr val="FBEFE2"/>
          </a:solidFill>
          <a:ln/>
        </p:spPr>
      </p:sp>
      <p:sp>
        <p:nvSpPr>
          <p:cNvPr id="15" name="Limitaciones circle"/>
          <p:cNvSpPr/>
          <p:nvPr/>
        </p:nvSpPr>
        <p:spPr>
          <a:xfrm>
            <a:off x="4663440" y="4846320"/>
            <a:ext cx="502920" cy="502920"/>
          </a:xfrm>
          <a:prstGeom prst="ellipse">
            <a:avLst/>
          </a:prstGeom>
          <a:solidFill>
            <a:srgbClr val="D9822B"/>
          </a:solidFill>
          <a:ln/>
        </p:spPr>
      </p:sp>
      <p:pic>
        <p:nvPicPr>
          <p:cNvPr id="16" name="Limitaciones icon" descr="Limitacion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9170" y="4972050"/>
            <a:ext cx="251460" cy="251460"/>
          </a:xfrm>
          <a:prstGeom prst="rect">
            <a:avLst/>
          </a:prstGeom>
        </p:spPr>
      </p:pic>
      <p:sp>
        <p:nvSpPr>
          <p:cNvPr id="17" name="Limits header"/>
          <p:cNvSpPr txBox="1"/>
          <p:nvPr/>
        </p:nvSpPr>
        <p:spPr>
          <a:xfrm>
            <a:off x="5349240" y="4846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410"/>
                </a:solidFill>
              </a:rPr>
              <a:t>LIMITACIONES ACTUALES</a:t>
            </a:r>
            <a:endParaRPr lang="en-US" sz="1400" dirty="0"/>
          </a:p>
        </p:txBody>
      </p:sp>
      <p:sp>
        <p:nvSpPr>
          <p:cNvPr id="18" name="Limits left"/>
          <p:cNvSpPr txBox="1"/>
          <p:nvPr/>
        </p:nvSpPr>
        <p:spPr>
          <a:xfrm>
            <a:off x="4663440" y="54864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Uso local: una persona por equipo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Probado en laboratorio, no en producción</a:t>
            </a:r>
            <a:endParaRPr lang="en-US" sz="1400" dirty="0"/>
          </a:p>
        </p:txBody>
      </p:sp>
      <p:sp>
        <p:nvSpPr>
          <p:cNvPr id="19" name="Limits right"/>
          <p:cNvSpPr txBox="1"/>
          <p:nvPr/>
        </p:nvSpPr>
        <p:spPr>
          <a:xfrm>
            <a:off x="8229600" y="548640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AD: sin contraseña ni estado de cuenta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Sin ejecución en paralelo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Beneficios para Servicios Profesionales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Más consistencia en entregas, cambios y soporte</a:t>
            </a:r>
            <a:endParaRPr lang="en-US" sz="1800" dirty="0"/>
          </a:p>
        </p:txBody>
      </p:sp>
      <p:sp>
        <p:nvSpPr>
          <p:cNvPr id="4" name="Pruebas de regresión card"/>
          <p:cNvSpPr/>
          <p:nvPr/>
        </p:nvSpPr>
        <p:spPr>
          <a:xfrm>
            <a:off x="548640" y="1645920"/>
            <a:ext cx="1999427" cy="3017520"/>
          </a:xfrm>
          <a:prstGeom prst="roundRect">
            <a:avLst>
              <a:gd name="adj" fmla="val 5488"/>
            </a:avLst>
          </a:prstGeom>
          <a:solidFill>
            <a:srgbClr val="EEF3F9"/>
          </a:solidFill>
          <a:ln/>
        </p:spPr>
      </p:sp>
      <p:sp>
        <p:nvSpPr>
          <p:cNvPr id="5" name="Pruebas de regresión circle"/>
          <p:cNvSpPr/>
          <p:nvPr/>
        </p:nvSpPr>
        <p:spPr>
          <a:xfrm>
            <a:off x="777240" y="1920240"/>
            <a:ext cx="685800" cy="68580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6" name="Pruebas de regresión icon" descr="Pruebas de regres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091690"/>
            <a:ext cx="342900" cy="342900"/>
          </a:xfrm>
          <a:prstGeom prst="rect">
            <a:avLst/>
          </a:prstGeom>
        </p:spPr>
      </p:pic>
      <p:sp>
        <p:nvSpPr>
          <p:cNvPr id="7" name="Pruebas de regresión title"/>
          <p:cNvSpPr txBox="1"/>
          <p:nvPr/>
        </p:nvSpPr>
        <p:spPr>
          <a:xfrm>
            <a:off x="777240" y="2743200"/>
            <a:ext cx="15879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Pruebas de regresión</a:t>
            </a:r>
            <a:endParaRPr lang="en-US" sz="1700" dirty="0"/>
          </a:p>
        </p:txBody>
      </p:sp>
      <p:sp>
        <p:nvSpPr>
          <p:cNvPr id="8" name="Pruebas de regresión text"/>
          <p:cNvSpPr txBox="1"/>
          <p:nvPr/>
        </p:nvSpPr>
        <p:spPr>
          <a:xfrm>
            <a:off x="777240" y="3657600"/>
            <a:ext cx="158794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El mismo escenario se repite tras cada cambio o versión.</a:t>
            </a:r>
            <a:endParaRPr lang="en-US" sz="1400" dirty="0"/>
          </a:p>
        </p:txBody>
      </p:sp>
      <p:sp>
        <p:nvSpPr>
          <p:cNvPr id="9" name="Menos errores en producción card"/>
          <p:cNvSpPr/>
          <p:nvPr/>
        </p:nvSpPr>
        <p:spPr>
          <a:xfrm>
            <a:off x="2822387" y="1645920"/>
            <a:ext cx="1999427" cy="3017520"/>
          </a:xfrm>
          <a:prstGeom prst="roundRect">
            <a:avLst>
              <a:gd name="adj" fmla="val 5488"/>
            </a:avLst>
          </a:prstGeom>
          <a:solidFill>
            <a:srgbClr val="EEF3F9"/>
          </a:solidFill>
          <a:ln/>
        </p:spPr>
      </p:sp>
      <p:sp>
        <p:nvSpPr>
          <p:cNvPr id="10" name="Menos errores en producción circle"/>
          <p:cNvSpPr/>
          <p:nvPr/>
        </p:nvSpPr>
        <p:spPr>
          <a:xfrm>
            <a:off x="3050987" y="1920240"/>
            <a:ext cx="685800" cy="68580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11" name="Menos errores en producción icon" descr="Menos errores en producció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437" y="2091690"/>
            <a:ext cx="342900" cy="342900"/>
          </a:xfrm>
          <a:prstGeom prst="rect">
            <a:avLst/>
          </a:prstGeom>
        </p:spPr>
      </p:pic>
      <p:sp>
        <p:nvSpPr>
          <p:cNvPr id="12" name="Menos errores en producción title"/>
          <p:cNvSpPr txBox="1"/>
          <p:nvPr/>
        </p:nvSpPr>
        <p:spPr>
          <a:xfrm>
            <a:off x="3050987" y="2743200"/>
            <a:ext cx="15879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Menos errores en producción</a:t>
            </a:r>
            <a:endParaRPr lang="en-US" sz="1700" dirty="0"/>
          </a:p>
        </p:txBody>
      </p:sp>
      <p:sp>
        <p:nvSpPr>
          <p:cNvPr id="13" name="Menos errores en producción text"/>
          <p:cNvSpPr txBox="1"/>
          <p:nvPr/>
        </p:nvSpPr>
        <p:spPr>
          <a:xfrm>
            <a:off x="3050987" y="3657600"/>
            <a:ext cx="158794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Las fallas aparecen en laboratorio, con el paso exacto que falló.</a:t>
            </a:r>
            <a:endParaRPr lang="en-US" sz="1400" dirty="0"/>
          </a:p>
        </p:txBody>
      </p:sp>
      <p:sp>
        <p:nvSpPr>
          <p:cNvPr id="14" name="Mayor cobertura de pruebas card"/>
          <p:cNvSpPr/>
          <p:nvPr/>
        </p:nvSpPr>
        <p:spPr>
          <a:xfrm>
            <a:off x="5096134" y="1645920"/>
            <a:ext cx="1999427" cy="3017520"/>
          </a:xfrm>
          <a:prstGeom prst="roundRect">
            <a:avLst>
              <a:gd name="adj" fmla="val 5488"/>
            </a:avLst>
          </a:prstGeom>
          <a:solidFill>
            <a:srgbClr val="EEF3F9"/>
          </a:solidFill>
          <a:ln/>
        </p:spPr>
      </p:sp>
      <p:sp>
        <p:nvSpPr>
          <p:cNvPr id="15" name="Mayor cobertura de pruebas circle"/>
          <p:cNvSpPr/>
          <p:nvPr/>
        </p:nvSpPr>
        <p:spPr>
          <a:xfrm>
            <a:off x="5324734" y="1920240"/>
            <a:ext cx="685800" cy="68580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16" name="Mayor cobertura de pruebas icon" descr="Mayor cobertura de prueba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184" y="2091690"/>
            <a:ext cx="342900" cy="342900"/>
          </a:xfrm>
          <a:prstGeom prst="rect">
            <a:avLst/>
          </a:prstGeom>
        </p:spPr>
      </p:pic>
      <p:sp>
        <p:nvSpPr>
          <p:cNvPr id="17" name="Mayor cobertura de pruebas title"/>
          <p:cNvSpPr txBox="1"/>
          <p:nvPr/>
        </p:nvSpPr>
        <p:spPr>
          <a:xfrm>
            <a:off x="5324734" y="2743200"/>
            <a:ext cx="15879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Mayor cobertura de pruebas</a:t>
            </a:r>
            <a:endParaRPr lang="en-US" sz="1700" dirty="0"/>
          </a:p>
        </p:txBody>
      </p:sp>
      <p:sp>
        <p:nvSpPr>
          <p:cNvPr id="18" name="Mayor cobertura de pruebas text"/>
          <p:cNvSpPr txBox="1"/>
          <p:nvPr/>
        </p:nvSpPr>
        <p:spPr>
          <a:xfrm>
            <a:off x="5324734" y="3657600"/>
            <a:ext cx="158794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Un escenario revisa IdM, accesos, BD y directorio.</a:t>
            </a:r>
            <a:endParaRPr lang="en-US" sz="1400" dirty="0"/>
          </a:p>
        </p:txBody>
      </p:sp>
      <p:sp>
        <p:nvSpPr>
          <p:cNvPr id="19" name="Automatización de lo repetitivo card"/>
          <p:cNvSpPr/>
          <p:nvPr/>
        </p:nvSpPr>
        <p:spPr>
          <a:xfrm>
            <a:off x="7369881" y="1645920"/>
            <a:ext cx="1999427" cy="3017520"/>
          </a:xfrm>
          <a:prstGeom prst="roundRect">
            <a:avLst>
              <a:gd name="adj" fmla="val 5488"/>
            </a:avLst>
          </a:prstGeom>
          <a:solidFill>
            <a:srgbClr val="EEF3F9"/>
          </a:solidFill>
          <a:ln/>
        </p:spPr>
      </p:sp>
      <p:sp>
        <p:nvSpPr>
          <p:cNvPr id="20" name="Automatización de lo repetitivo circle"/>
          <p:cNvSpPr/>
          <p:nvPr/>
        </p:nvSpPr>
        <p:spPr>
          <a:xfrm>
            <a:off x="7598481" y="1920240"/>
            <a:ext cx="685800" cy="68580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21" name="Automatización de lo repetitivo icon" descr="Automatización de lo repetitiv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9931" y="2091690"/>
            <a:ext cx="342900" cy="342900"/>
          </a:xfrm>
          <a:prstGeom prst="rect">
            <a:avLst/>
          </a:prstGeom>
        </p:spPr>
      </p:pic>
      <p:sp>
        <p:nvSpPr>
          <p:cNvPr id="22" name="Automatización de lo repetitivo title"/>
          <p:cNvSpPr txBox="1"/>
          <p:nvPr/>
        </p:nvSpPr>
        <p:spPr>
          <a:xfrm>
            <a:off x="7598481" y="2743200"/>
            <a:ext cx="15879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Automatización de lo repetitivo</a:t>
            </a:r>
            <a:endParaRPr lang="en-US" sz="1700" dirty="0"/>
          </a:p>
        </p:txBody>
      </p:sp>
      <p:sp>
        <p:nvSpPr>
          <p:cNvPr id="23" name="Automatización de lo repetitivo text"/>
          <p:cNvSpPr txBox="1"/>
          <p:nvPr/>
        </p:nvSpPr>
        <p:spPr>
          <a:xfrm>
            <a:off x="7598481" y="3657600"/>
            <a:ext cx="158794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Altas, asignaciones y verificaciones sin captura manual.</a:t>
            </a:r>
            <a:endParaRPr lang="en-US" sz="1400" dirty="0"/>
          </a:p>
        </p:txBody>
      </p:sp>
      <p:sp>
        <p:nvSpPr>
          <p:cNvPr id="24" name="Ahorro de tiempo y recursos card"/>
          <p:cNvSpPr/>
          <p:nvPr/>
        </p:nvSpPr>
        <p:spPr>
          <a:xfrm>
            <a:off x="9643628" y="1645920"/>
            <a:ext cx="1999427" cy="3017520"/>
          </a:xfrm>
          <a:prstGeom prst="roundRect">
            <a:avLst>
              <a:gd name="adj" fmla="val 5488"/>
            </a:avLst>
          </a:prstGeom>
          <a:solidFill>
            <a:srgbClr val="EEF3F9"/>
          </a:solidFill>
          <a:ln/>
        </p:spPr>
      </p:sp>
      <p:sp>
        <p:nvSpPr>
          <p:cNvPr id="25" name="Ahorro de tiempo y recursos circle"/>
          <p:cNvSpPr/>
          <p:nvPr/>
        </p:nvSpPr>
        <p:spPr>
          <a:xfrm>
            <a:off x="9872228" y="1920240"/>
            <a:ext cx="685800" cy="68580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26" name="Ahorro de tiempo y recursos icon" descr="Ahorro de tiempo y recurso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3678" y="2091690"/>
            <a:ext cx="342900" cy="342900"/>
          </a:xfrm>
          <a:prstGeom prst="rect">
            <a:avLst/>
          </a:prstGeom>
        </p:spPr>
      </p:pic>
      <p:sp>
        <p:nvSpPr>
          <p:cNvPr id="27" name="Ahorro de tiempo y recursos title"/>
          <p:cNvSpPr txBox="1"/>
          <p:nvPr/>
        </p:nvSpPr>
        <p:spPr>
          <a:xfrm>
            <a:off x="9872228" y="2743200"/>
            <a:ext cx="158794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Ahorro de tiempo y recursos</a:t>
            </a:r>
            <a:endParaRPr lang="en-US" sz="1700" dirty="0"/>
          </a:p>
        </p:txBody>
      </p:sp>
      <p:sp>
        <p:nvSpPr>
          <p:cNvPr id="28" name="Ahorro de tiempo y recursos text"/>
          <p:cNvSpPr txBox="1"/>
          <p:nvPr/>
        </p:nvSpPr>
        <p:spPr>
          <a:xfrm>
            <a:off x="9872228" y="3657600"/>
            <a:ext cx="158794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Escenarios reutilizables entre clientes y entregas.</a:t>
            </a:r>
            <a:endParaRPr lang="en-US" sz="1400" dirty="0"/>
          </a:p>
        </p:txBody>
      </p:sp>
      <p:sp>
        <p:nvSpPr>
          <p:cNvPr id="29" name="Today card"/>
          <p:cNvSpPr/>
          <p:nvPr/>
        </p:nvSpPr>
        <p:spPr>
          <a:xfrm>
            <a:off x="548640" y="4983480"/>
            <a:ext cx="5090008" cy="1188720"/>
          </a:xfrm>
          <a:prstGeom prst="roundRect">
            <a:avLst>
              <a:gd name="adj" fmla="val 9231"/>
            </a:avLst>
          </a:prstGeom>
          <a:solidFill>
            <a:srgbClr val="F2F4F7"/>
          </a:solidFill>
          <a:ln/>
        </p:spPr>
      </p:sp>
      <p:sp>
        <p:nvSpPr>
          <p:cNvPr id="30" name="Today text"/>
          <p:cNvSpPr txBox="1"/>
          <p:nvPr/>
        </p:nvSpPr>
        <p:spPr>
          <a:xfrm>
            <a:off x="822960" y="5120640"/>
            <a:ext cx="4541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HOY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Revisar a mano cada consola (IdM, BD, AD) y armar la evidencia con capturas.</a:t>
            </a:r>
            <a:endParaRPr lang="en-US" sz="1600" dirty="0"/>
          </a:p>
        </p:txBody>
      </p:sp>
      <p:pic>
        <p:nvPicPr>
          <p:cNvPr id="31" name="Arrow" descr="Cambi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2968" y="5394960"/>
            <a:ext cx="365760" cy="365760"/>
          </a:xfrm>
          <a:prstGeom prst="rect">
            <a:avLst/>
          </a:prstGeom>
        </p:spPr>
      </p:pic>
      <p:sp>
        <p:nvSpPr>
          <p:cNvPr id="32" name="Framework card"/>
          <p:cNvSpPr/>
          <p:nvPr/>
        </p:nvSpPr>
        <p:spPr>
          <a:xfrm>
            <a:off x="6553048" y="4983480"/>
            <a:ext cx="5090008" cy="1188720"/>
          </a:xfrm>
          <a:prstGeom prst="roundRect">
            <a:avLst>
              <a:gd name="adj" fmla="val 9231"/>
            </a:avLst>
          </a:prstGeom>
          <a:solidFill>
            <a:srgbClr val="E3F4F1"/>
          </a:solidFill>
          <a:ln/>
        </p:spPr>
      </p:sp>
      <p:sp>
        <p:nvSpPr>
          <p:cNvPr id="33" name="Framework text"/>
          <p:cNvSpPr txBox="1"/>
          <p:nvPr/>
        </p:nvSpPr>
        <p:spPr>
          <a:xfrm>
            <a:off x="6827368" y="5120640"/>
            <a:ext cx="4541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CON EL FRAMEWORK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comando ejecuta el flujo completo y entrega un reporte HTML con cada paso.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Caso de uso para aprobar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Creación de identidad, asignación de accesos y validación del aprovisionamiento</a:t>
            </a:r>
            <a:endParaRPr lang="en-US" sz="1800" dirty="0"/>
          </a:p>
        </p:txBody>
      </p:sp>
      <p:sp>
        <p:nvSpPr>
          <p:cNvPr id="4" name="Crear identidad en IdM card"/>
          <p:cNvSpPr/>
          <p:nvPr/>
        </p:nvSpPr>
        <p:spPr>
          <a:xfrm>
            <a:off x="548640" y="1645920"/>
            <a:ext cx="2430704" cy="2514600"/>
          </a:xfrm>
          <a:prstGeom prst="roundRect">
            <a:avLst>
              <a:gd name="adj" fmla="val 4514"/>
            </a:avLst>
          </a:prstGeom>
          <a:solidFill>
            <a:srgbClr val="EEF3F9"/>
          </a:solidFill>
          <a:ln/>
        </p:spPr>
      </p:sp>
      <p:sp>
        <p:nvSpPr>
          <p:cNvPr id="5" name="Crear identidad en IdM circle"/>
          <p:cNvSpPr/>
          <p:nvPr/>
        </p:nvSpPr>
        <p:spPr>
          <a:xfrm>
            <a:off x="777240" y="1920240"/>
            <a:ext cx="685800" cy="68580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6" name="Crear identidad en IdM icon" descr="Crear identidad en Id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091690"/>
            <a:ext cx="342900" cy="342900"/>
          </a:xfrm>
          <a:prstGeom prst="rect">
            <a:avLst/>
          </a:prstGeom>
        </p:spPr>
      </p:pic>
      <p:sp>
        <p:nvSpPr>
          <p:cNvPr id="7" name="Step 1 number"/>
          <p:cNvSpPr txBox="1"/>
          <p:nvPr/>
        </p:nvSpPr>
        <p:spPr>
          <a:xfrm>
            <a:off x="2202104" y="19202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8C6D9"/>
                </a:solidFill>
              </a:rPr>
              <a:t>1</a:t>
            </a:r>
            <a:endParaRPr lang="en-US" sz="3600" dirty="0"/>
          </a:p>
        </p:txBody>
      </p:sp>
      <p:sp>
        <p:nvSpPr>
          <p:cNvPr id="8" name="Crear identidad en IdM title"/>
          <p:cNvSpPr txBox="1"/>
          <p:nvPr/>
        </p:nvSpPr>
        <p:spPr>
          <a:xfrm>
            <a:off x="777240" y="2697480"/>
            <a:ext cx="197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Crear identidad en IdM</a:t>
            </a:r>
            <a:endParaRPr lang="en-US" sz="1800" dirty="0"/>
          </a:p>
        </p:txBody>
      </p:sp>
      <p:sp>
        <p:nvSpPr>
          <p:cNvPr id="9" name="Crear identidad en IdM text"/>
          <p:cNvSpPr txBox="1"/>
          <p:nvPr/>
        </p:nvSpPr>
        <p:spPr>
          <a:xfrm>
            <a:off x="777240" y="3337560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Alta del usuario en eDirectory</a:t>
            </a:r>
            <a:endParaRPr lang="en-US" sz="1400" dirty="0"/>
          </a:p>
        </p:txBody>
      </p:sp>
      <p:sp>
        <p:nvSpPr>
          <p:cNvPr id="10" name="Crear identidad en IdM tag"/>
          <p:cNvSpPr txBox="1"/>
          <p:nvPr/>
        </p:nvSpPr>
        <p:spPr>
          <a:xfrm>
            <a:off x="777240" y="384048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LDAP</a:t>
            </a:r>
            <a:endParaRPr lang="en-US" sz="1200" dirty="0"/>
          </a:p>
        </p:txBody>
      </p:sp>
      <p:pic>
        <p:nvPicPr>
          <p:cNvPr id="11" name="Arrow 1" descr="Siguiente pas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216" y="2793492"/>
            <a:ext cx="219456" cy="219456"/>
          </a:xfrm>
          <a:prstGeom prst="rect">
            <a:avLst/>
          </a:prstGeom>
        </p:spPr>
      </p:pic>
      <p:sp>
        <p:nvSpPr>
          <p:cNvPr id="12" name="Asignar accesos en IdM card"/>
          <p:cNvSpPr/>
          <p:nvPr/>
        </p:nvSpPr>
        <p:spPr>
          <a:xfrm>
            <a:off x="3436544" y="1645920"/>
            <a:ext cx="2430704" cy="2514600"/>
          </a:xfrm>
          <a:prstGeom prst="roundRect">
            <a:avLst>
              <a:gd name="adj" fmla="val 4514"/>
            </a:avLst>
          </a:prstGeom>
          <a:solidFill>
            <a:srgbClr val="EEF3F9"/>
          </a:solidFill>
          <a:ln/>
        </p:spPr>
      </p:sp>
      <p:sp>
        <p:nvSpPr>
          <p:cNvPr id="13" name="Asignar accesos en IdM circle"/>
          <p:cNvSpPr/>
          <p:nvPr/>
        </p:nvSpPr>
        <p:spPr>
          <a:xfrm>
            <a:off x="3665144" y="1920240"/>
            <a:ext cx="685800" cy="68580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14" name="Asignar accesos en IdM icon" descr="Asignar accesos en Id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6594" y="2091690"/>
            <a:ext cx="342900" cy="342900"/>
          </a:xfrm>
          <a:prstGeom prst="rect">
            <a:avLst/>
          </a:prstGeom>
        </p:spPr>
      </p:pic>
      <p:sp>
        <p:nvSpPr>
          <p:cNvPr id="15" name="Step 2 number"/>
          <p:cNvSpPr txBox="1"/>
          <p:nvPr/>
        </p:nvSpPr>
        <p:spPr>
          <a:xfrm>
            <a:off x="5090008" y="19202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8C6D9"/>
                </a:solidFill>
              </a:rPr>
              <a:t>2</a:t>
            </a:r>
            <a:endParaRPr lang="en-US" sz="3600" dirty="0"/>
          </a:p>
        </p:txBody>
      </p:sp>
      <p:sp>
        <p:nvSpPr>
          <p:cNvPr id="16" name="Asignar accesos en IdM title"/>
          <p:cNvSpPr txBox="1"/>
          <p:nvPr/>
        </p:nvSpPr>
        <p:spPr>
          <a:xfrm>
            <a:off x="3665144" y="2697480"/>
            <a:ext cx="197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Asignar accesos en IdM</a:t>
            </a:r>
            <a:endParaRPr lang="en-US" sz="1800" dirty="0"/>
          </a:p>
        </p:txBody>
      </p:sp>
      <p:sp>
        <p:nvSpPr>
          <p:cNvPr id="17" name="Asignar accesos en IdM text"/>
          <p:cNvSpPr txBox="1"/>
          <p:nvPr/>
        </p:nvSpPr>
        <p:spPr>
          <a:xfrm>
            <a:off x="3665144" y="3337560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Roles o recursos vía User Application</a:t>
            </a:r>
            <a:endParaRPr lang="en-US" sz="1400" dirty="0"/>
          </a:p>
        </p:txBody>
      </p:sp>
      <p:sp>
        <p:nvSpPr>
          <p:cNvPr id="18" name="Asignar accesos en IdM tag"/>
          <p:cNvSpPr txBox="1"/>
          <p:nvPr/>
        </p:nvSpPr>
        <p:spPr>
          <a:xfrm>
            <a:off x="3665144" y="384048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SOAP</a:t>
            </a:r>
            <a:endParaRPr lang="en-US" sz="1200" dirty="0"/>
          </a:p>
        </p:txBody>
      </p:sp>
      <p:pic>
        <p:nvPicPr>
          <p:cNvPr id="19" name="Arrow 2" descr="Siguiente pas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6120" y="2793492"/>
            <a:ext cx="219456" cy="219456"/>
          </a:xfrm>
          <a:prstGeom prst="rect">
            <a:avLst/>
          </a:prstGeom>
        </p:spPr>
      </p:pic>
      <p:sp>
        <p:nvSpPr>
          <p:cNvPr id="20" name="Validar en BD card"/>
          <p:cNvSpPr/>
          <p:nvPr/>
        </p:nvSpPr>
        <p:spPr>
          <a:xfrm>
            <a:off x="6324448" y="1645920"/>
            <a:ext cx="2430704" cy="2514600"/>
          </a:xfrm>
          <a:prstGeom prst="roundRect">
            <a:avLst>
              <a:gd name="adj" fmla="val 4514"/>
            </a:avLst>
          </a:prstGeom>
          <a:solidFill>
            <a:srgbClr val="EEF3F9"/>
          </a:solidFill>
          <a:ln/>
        </p:spPr>
      </p:sp>
      <p:sp>
        <p:nvSpPr>
          <p:cNvPr id="21" name="Validar en BD circle"/>
          <p:cNvSpPr/>
          <p:nvPr/>
        </p:nvSpPr>
        <p:spPr>
          <a:xfrm>
            <a:off x="6553048" y="1920240"/>
            <a:ext cx="685800" cy="685800"/>
          </a:xfrm>
          <a:prstGeom prst="ellipse">
            <a:avLst/>
          </a:prstGeom>
          <a:solidFill>
            <a:srgbClr val="1F9D8B"/>
          </a:solidFill>
          <a:ln/>
        </p:spPr>
      </p:sp>
      <p:pic>
        <p:nvPicPr>
          <p:cNvPr id="22" name="Validar en BD icon" descr="Validar en B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498" y="2091690"/>
            <a:ext cx="342900" cy="342900"/>
          </a:xfrm>
          <a:prstGeom prst="rect">
            <a:avLst/>
          </a:prstGeom>
        </p:spPr>
      </p:pic>
      <p:sp>
        <p:nvSpPr>
          <p:cNvPr id="23" name="Step 3 number"/>
          <p:cNvSpPr txBox="1"/>
          <p:nvPr/>
        </p:nvSpPr>
        <p:spPr>
          <a:xfrm>
            <a:off x="7977911" y="19202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8C6D9"/>
                </a:solidFill>
              </a:rPr>
              <a:t>3</a:t>
            </a:r>
            <a:endParaRPr lang="en-US" sz="3600" dirty="0"/>
          </a:p>
        </p:txBody>
      </p:sp>
      <p:sp>
        <p:nvSpPr>
          <p:cNvPr id="24" name="Validar en BD title"/>
          <p:cNvSpPr txBox="1"/>
          <p:nvPr/>
        </p:nvSpPr>
        <p:spPr>
          <a:xfrm>
            <a:off x="6553048" y="2697480"/>
            <a:ext cx="197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Validar en BD</a:t>
            </a:r>
            <a:endParaRPr lang="en-US" sz="1800" dirty="0"/>
          </a:p>
        </p:txBody>
      </p:sp>
      <p:sp>
        <p:nvSpPr>
          <p:cNvPr id="25" name="Validar en BD text"/>
          <p:cNvSpPr txBox="1"/>
          <p:nvPr/>
        </p:nvSpPr>
        <p:spPr>
          <a:xfrm>
            <a:off x="6553048" y="3337560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Usuario y permisos en las tablas de la aplicación</a:t>
            </a:r>
            <a:endParaRPr lang="en-US" sz="1400" dirty="0"/>
          </a:p>
        </p:txBody>
      </p:sp>
      <p:sp>
        <p:nvSpPr>
          <p:cNvPr id="26" name="Validar en BD tag"/>
          <p:cNvSpPr txBox="1"/>
          <p:nvPr/>
        </p:nvSpPr>
        <p:spPr>
          <a:xfrm>
            <a:off x="6553048" y="384048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SQL · con espera</a:t>
            </a:r>
            <a:endParaRPr lang="en-US" sz="1200" dirty="0"/>
          </a:p>
        </p:txBody>
      </p:sp>
      <p:pic>
        <p:nvPicPr>
          <p:cNvPr id="27" name="Arrow 3" descr="Siguiente pas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4023" y="2793492"/>
            <a:ext cx="219456" cy="219456"/>
          </a:xfrm>
          <a:prstGeom prst="rect">
            <a:avLst/>
          </a:prstGeom>
        </p:spPr>
      </p:pic>
      <p:sp>
        <p:nvSpPr>
          <p:cNvPr id="28" name="Validar en Active Directory card"/>
          <p:cNvSpPr/>
          <p:nvPr/>
        </p:nvSpPr>
        <p:spPr>
          <a:xfrm>
            <a:off x="9212351" y="1645920"/>
            <a:ext cx="2430704" cy="2514600"/>
          </a:xfrm>
          <a:prstGeom prst="roundRect">
            <a:avLst>
              <a:gd name="adj" fmla="val 4514"/>
            </a:avLst>
          </a:prstGeom>
          <a:solidFill>
            <a:srgbClr val="EEF3F9"/>
          </a:solidFill>
          <a:ln/>
        </p:spPr>
      </p:sp>
      <p:sp>
        <p:nvSpPr>
          <p:cNvPr id="29" name="Validar en Active Directory circle"/>
          <p:cNvSpPr/>
          <p:nvPr/>
        </p:nvSpPr>
        <p:spPr>
          <a:xfrm>
            <a:off x="9440951" y="1920240"/>
            <a:ext cx="685800" cy="685800"/>
          </a:xfrm>
          <a:prstGeom prst="ellipse">
            <a:avLst/>
          </a:prstGeom>
          <a:solidFill>
            <a:srgbClr val="1F9D8B"/>
          </a:solidFill>
          <a:ln/>
        </p:spPr>
      </p:sp>
      <p:pic>
        <p:nvPicPr>
          <p:cNvPr id="30" name="Validar en Active Directory icon" descr="Validar en Active Directory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2401" y="2091690"/>
            <a:ext cx="342900" cy="342900"/>
          </a:xfrm>
          <a:prstGeom prst="rect">
            <a:avLst/>
          </a:prstGeom>
        </p:spPr>
      </p:pic>
      <p:sp>
        <p:nvSpPr>
          <p:cNvPr id="31" name="Step 4 number"/>
          <p:cNvSpPr txBox="1"/>
          <p:nvPr/>
        </p:nvSpPr>
        <p:spPr>
          <a:xfrm>
            <a:off x="10865815" y="1920240"/>
            <a:ext cx="548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8C6D9"/>
                </a:solidFill>
              </a:rPr>
              <a:t>4</a:t>
            </a:r>
            <a:endParaRPr lang="en-US" sz="3600" dirty="0"/>
          </a:p>
        </p:txBody>
      </p:sp>
      <p:sp>
        <p:nvSpPr>
          <p:cNvPr id="32" name="Validar en Active Directory title"/>
          <p:cNvSpPr txBox="1"/>
          <p:nvPr/>
        </p:nvSpPr>
        <p:spPr>
          <a:xfrm>
            <a:off x="9440951" y="2697480"/>
            <a:ext cx="1973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Validar en Active Directory</a:t>
            </a:r>
            <a:endParaRPr lang="en-US" sz="1800" dirty="0"/>
          </a:p>
        </p:txBody>
      </p:sp>
      <p:sp>
        <p:nvSpPr>
          <p:cNvPr id="33" name="Validar en Active Directory text"/>
          <p:cNvSpPr txBox="1"/>
          <p:nvPr/>
        </p:nvSpPr>
        <p:spPr>
          <a:xfrm>
            <a:off x="9440951" y="3337560"/>
            <a:ext cx="197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Cuenta creada y pertenencia a los grupos</a:t>
            </a:r>
            <a:endParaRPr lang="en-US" sz="1400" dirty="0"/>
          </a:p>
        </p:txBody>
      </p:sp>
      <p:sp>
        <p:nvSpPr>
          <p:cNvPr id="34" name="Validar en Active Directory tag"/>
          <p:cNvSpPr txBox="1"/>
          <p:nvPr/>
        </p:nvSpPr>
        <p:spPr>
          <a:xfrm>
            <a:off x="9440951" y="3840480"/>
            <a:ext cx="197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LDAP · con espera</a:t>
            </a:r>
            <a:endParaRPr lang="en-US" sz="1200" dirty="0"/>
          </a:p>
        </p:txBody>
      </p:sp>
      <p:sp>
        <p:nvSpPr>
          <p:cNvPr id="35" name="Success card"/>
          <p:cNvSpPr/>
          <p:nvPr/>
        </p:nvSpPr>
        <p:spPr>
          <a:xfrm>
            <a:off x="548640" y="4434840"/>
            <a:ext cx="5318608" cy="1737360"/>
          </a:xfrm>
          <a:prstGeom prst="roundRect">
            <a:avLst>
              <a:gd name="adj" fmla="val 6316"/>
            </a:avLst>
          </a:prstGeom>
          <a:solidFill>
            <a:srgbClr val="E3F4F1"/>
          </a:solidFill>
          <a:ln/>
        </p:spPr>
      </p:sp>
      <p:sp>
        <p:nvSpPr>
          <p:cNvPr id="36" name="Criterio de éxito circle"/>
          <p:cNvSpPr/>
          <p:nvPr/>
        </p:nvSpPr>
        <p:spPr>
          <a:xfrm>
            <a:off x="822960" y="4709160"/>
            <a:ext cx="502920" cy="502920"/>
          </a:xfrm>
          <a:prstGeom prst="ellipse">
            <a:avLst/>
          </a:prstGeom>
          <a:solidFill>
            <a:srgbClr val="0F7B3E"/>
          </a:solidFill>
          <a:ln/>
        </p:spPr>
      </p:sp>
      <p:pic>
        <p:nvPicPr>
          <p:cNvPr id="37" name="Criterio de éxito icon" descr="Criterio de éxit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690" y="4834890"/>
            <a:ext cx="251460" cy="251460"/>
          </a:xfrm>
          <a:prstGeom prst="rect">
            <a:avLst/>
          </a:prstGeom>
        </p:spPr>
      </p:pic>
      <p:sp>
        <p:nvSpPr>
          <p:cNvPr id="38" name="Success header"/>
          <p:cNvSpPr txBox="1"/>
          <p:nvPr/>
        </p:nvSpPr>
        <p:spPr>
          <a:xfrm>
            <a:off x="1508760" y="470916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CRITERIO DE ÉXITO</a:t>
            </a:r>
            <a:endParaRPr lang="en-US" sz="1400" dirty="0"/>
          </a:p>
        </p:txBody>
      </p:sp>
      <p:sp>
        <p:nvSpPr>
          <p:cNvPr id="39" name="Success text"/>
          <p:cNvSpPr txBox="1"/>
          <p:nvPr/>
        </p:nvSpPr>
        <p:spPr>
          <a:xfrm>
            <a:off x="822960" y="5349240"/>
            <a:ext cx="4769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reporte muestra los cuatro pasos aprobados para usuarios generados, sin revisar ninguna consola a mano.</a:t>
            </a:r>
            <a:endParaRPr lang="en-US" sz="1600" dirty="0"/>
          </a:p>
        </p:txBody>
      </p:sp>
      <p:sp>
        <p:nvSpPr>
          <p:cNvPr id="40" name="Next steps card"/>
          <p:cNvSpPr/>
          <p:nvPr/>
        </p:nvSpPr>
        <p:spPr>
          <a:xfrm>
            <a:off x="6324448" y="4434840"/>
            <a:ext cx="5318608" cy="1737360"/>
          </a:xfrm>
          <a:prstGeom prst="roundRect">
            <a:avLst>
              <a:gd name="adj" fmla="val 6316"/>
            </a:avLst>
          </a:prstGeom>
          <a:solidFill>
            <a:srgbClr val="EEF3F9"/>
          </a:solidFill>
          <a:ln/>
        </p:spPr>
      </p:sp>
      <p:sp>
        <p:nvSpPr>
          <p:cNvPr id="41" name="Próximos pasos circle"/>
          <p:cNvSpPr/>
          <p:nvPr/>
        </p:nvSpPr>
        <p:spPr>
          <a:xfrm>
            <a:off x="6598768" y="4709160"/>
            <a:ext cx="502920" cy="502920"/>
          </a:xfrm>
          <a:prstGeom prst="ellipse">
            <a:avLst/>
          </a:prstGeom>
          <a:solidFill>
            <a:srgbClr val="2463A5"/>
          </a:solidFill>
          <a:ln/>
        </p:spPr>
      </p:sp>
      <p:pic>
        <p:nvPicPr>
          <p:cNvPr id="42" name="Próximos pasos icon" descr="Próximos paso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4498" y="4834890"/>
            <a:ext cx="251460" cy="251460"/>
          </a:xfrm>
          <a:prstGeom prst="rect">
            <a:avLst/>
          </a:prstGeom>
        </p:spPr>
      </p:pic>
      <p:sp>
        <p:nvSpPr>
          <p:cNvPr id="43" name="Next header"/>
          <p:cNvSpPr txBox="1"/>
          <p:nvPr/>
        </p:nvSpPr>
        <p:spPr>
          <a:xfrm>
            <a:off x="7284568" y="4709160"/>
            <a:ext cx="412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PRÓXIMOS PASOS</a:t>
            </a:r>
            <a:endParaRPr lang="en-US" sz="1400" dirty="0"/>
          </a:p>
        </p:txBody>
      </p:sp>
      <p:sp>
        <p:nvSpPr>
          <p:cNvPr id="44" name="Next list"/>
          <p:cNvSpPr txBox="1"/>
          <p:nvPr/>
        </p:nvSpPr>
        <p:spPr>
          <a:xfrm>
            <a:off x="6598768" y="5303520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Acordar alcance, laboratorio y cuentas de prueba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Configurar conexiones y ajustar los escenarios</a:t>
            </a:r>
            <a:endParaRPr lang="en-US" sz="1400" dirty="0"/>
          </a:p>
          <a:p>
            <a:pPr marL="254000" indent="-2540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1"/>
                </a:solidFill>
              </a:rPr>
              <a:t>Ejecutar y presentar el reporte al equipo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dM Test Framework">
  <a:themeElements>
    <a:clrScheme name="IdM Test Framework">
      <a:dk1>
        <a:srgbClr val="14263F"/>
      </a:dk1>
      <a:lt1>
        <a:srgbClr val="FFFFFF"/>
      </a:lt1>
      <a:dk2>
        <a:srgbClr val="22334B"/>
      </a:dk2>
      <a:lt2>
        <a:srgbClr val="EEF3F9"/>
      </a:lt2>
      <a:accent1>
        <a:srgbClr val="2463A5"/>
      </a:accent1>
      <a:accent2>
        <a:srgbClr val="1F9D8B"/>
      </a:accent2>
      <a:accent3>
        <a:srgbClr val="D9822B"/>
      </a:accent3>
      <a:accent4>
        <a:srgbClr val="617080"/>
      </a:accent4>
      <a:accent5>
        <a:srgbClr val="CADCFC"/>
      </a:accent5>
      <a:accent6>
        <a:srgbClr val="0F7B3E"/>
      </a:accent6>
      <a:hlink>
        <a:srgbClr val="2463A5"/>
      </a:hlink>
      <a:folHlink>
        <a:srgbClr val="617080"/>
      </a:folHlink>
    </a:clrScheme>
    <a:fontScheme name="IdM Test Framewor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Propuesta ejecutiva — IdM Test Framework (v2)</dc:title>
  <dc:subject>PptxGenJS Presentation</dc:subject>
  <dc:creator>pepaoo</dc:creator>
  <cp:lastModifiedBy>pepaoo</cp:lastModifiedBy>
  <cp:revision>1</cp:revision>
  <dcterms:created xsi:type="dcterms:W3CDTF">2026-10-28T04:49:56Z</dcterms:created>
  <dcterms:modified xsi:type="dcterms:W3CDTF">2026-10-28T04:49:56Z</dcterms:modified>
</cp:coreProperties>
</file>